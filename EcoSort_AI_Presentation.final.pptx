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88" r:id="rId2"/>
    <p:sldId id="277" r:id="rId3"/>
    <p:sldId id="274" r:id="rId4"/>
    <p:sldId id="273" r:id="rId5"/>
    <p:sldId id="289" r:id="rId6"/>
    <p:sldId id="264" r:id="rId7"/>
    <p:sldId id="266" r:id="rId8"/>
    <p:sldId id="256" r:id="rId9"/>
    <p:sldId id="257" r:id="rId10"/>
    <p:sldId id="267" r:id="rId11"/>
    <p:sldId id="294" r:id="rId12"/>
    <p:sldId id="291" r:id="rId13"/>
    <p:sldId id="270" r:id="rId14"/>
    <p:sldId id="269" r:id="rId15"/>
    <p:sldId id="29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4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127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الدراسات السابقة تؤكد أن التصنيف على صور منظمة أسهل بكثير من litter in context.</a:t>
            </a:r>
          </a:p>
          <a:p>
            <a:endParaRPr/>
          </a:p>
          <a:p>
            <a:r>
              <a:t>[Sources]</a:t>
            </a:r>
          </a:p>
          <a:p>
            <a:r>
              <a:t>https://arxiv.org/abs/2602.10500</a:t>
            </a:r>
          </a:p>
          <a:p>
            <a:r>
              <a:t>https://arxiv.org/abs/2003.06975</a:t>
            </a:r>
          </a:p>
          <a:p>
            <a:r>
              <a:t>https://arxiv.org/abs/2007.08097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نثبت الـsplit قبل augmentation، ونحافظ على validation وtest بصور أصلية فقط.</a:t>
            </a:r>
          </a:p>
          <a:p>
            <a:endParaRPr/>
          </a:p>
          <a:p>
            <a:r>
              <a:t>[Sources]</a:t>
            </a:r>
          </a:p>
          <a:p>
            <a:r>
              <a:t>Project-authored content; no external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نقارن ConvNeXt للقوة، EfficientNet للتوازن، وMobileNet لخفة التشغيل.</a:t>
            </a:r>
          </a:p>
          <a:p>
            <a:endParaRPr/>
          </a:p>
          <a:p>
            <a:r>
              <a:t>[Sources]</a:t>
            </a:r>
          </a:p>
          <a:p>
            <a:r>
              <a:t>Project-authored content; no external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MobileNet مناسب للتطبيقات الخفيفة، لكن الفرق بين train وtest يستدعي تقييمًا واقعيًا إضافيًا.</a:t>
            </a:r>
          </a:p>
          <a:p>
            <a:endParaRPr/>
          </a:p>
          <a:p>
            <a:r>
              <a:t>[Sources]</a:t>
            </a:r>
          </a:p>
          <a:p>
            <a:r>
              <a:t>Project-authored content; no external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مهم: نتيجة EfficientNet المتاحة Validation وليست Test، لذلك لا نعلن فائزًا نهائيًا قبل اختبار مستقل.</a:t>
            </a:r>
          </a:p>
          <a:p>
            <a:endParaRPr/>
          </a:p>
          <a:p>
            <a:r>
              <a:t>[Sources]</a:t>
            </a:r>
          </a:p>
          <a:p>
            <a:r>
              <a:t>Project-authored content; no external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7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8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6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79014E-9905-4223-AD7B-7DDE13C24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16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B612A1-3276-471D-BDB0-E5FD444DC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3" y="0"/>
            <a:ext cx="12120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31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20744B-B09C-4096-8740-3F7267B8B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9"/>
            <a:ext cx="12192000" cy="685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35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4CDD1D-2FB7-43CF-A7B7-FF312FE82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74"/>
            <a:ext cx="12192000" cy="684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7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A67E51-06D9-48E8-A340-0BE38DEE3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8"/>
            <a:ext cx="12192000" cy="684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67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2CE2CED-6F50-46B3-87AF-40E37C92F3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67A5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A644A9-08AF-44D2-AE09-29AEFFAA1E4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04 · RELATED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27549-97F0-4422-B47D-570C63ECC26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73B2B"/>
                </a:solidFill>
              </a:defRPr>
            </a:pPr>
            <a:r>
              <a:rPr sz="2700" b="1">
                <a:solidFill>
                  <a:srgbClr val="073B2B"/>
                </a:solidFill>
              </a:rPr>
              <a:t>Real clutter makes waste vision substantially harder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BE6A4C-D5BB-4E88-B192-DCC92C259407}"/>
              </a:ext>
            </a:extLst>
          </p:cNvPr>
          <p:cNvSpPr>
            <a:spLocks noGrp="1"/>
          </p:cNvSpPr>
          <p:nvPr/>
        </p:nvSpPr>
        <p:spPr>
          <a:xfrm>
            <a:off x="11096625" y="4000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8766E"/>
                </a:solidFill>
              </a:defRPr>
            </a:pPr>
            <a:r>
              <a:rPr sz="1125" b="1">
                <a:solidFill>
                  <a:srgbClr val="68766E"/>
                </a:solidFill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CC5608-6168-476C-B93C-227D2137064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B8C9B6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D2D7C4-7114-43B2-9229-3FD6E41BF17B}"/>
              </a:ext>
            </a:extLst>
          </p:cNvPr>
          <p:cNvSpPr>
            <a:spLocks noGrp="1"/>
          </p:cNvSpPr>
          <p:nvPr/>
        </p:nvSpPr>
        <p:spPr>
          <a:xfrm>
            <a:off x="714375" y="16383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STUDY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E35D4D-D16C-4259-91EE-37F31139D4DE}"/>
              </a:ext>
            </a:extLst>
          </p:cNvPr>
          <p:cNvSpPr>
            <a:spLocks noGrp="1"/>
          </p:cNvSpPr>
          <p:nvPr/>
        </p:nvSpPr>
        <p:spPr>
          <a:xfrm>
            <a:off x="3429000" y="1638300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DATASET /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4678B4-FC22-4082-BE9E-3978D0259C3C}"/>
              </a:ext>
            </a:extLst>
          </p:cNvPr>
          <p:cNvSpPr>
            <a:spLocks noGrp="1"/>
          </p:cNvSpPr>
          <p:nvPr/>
        </p:nvSpPr>
        <p:spPr>
          <a:xfrm>
            <a:off x="5905500" y="16383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APPROACH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4206C2-96FF-4B05-8656-D66C2EC4C5A6}"/>
              </a:ext>
            </a:extLst>
          </p:cNvPr>
          <p:cNvSpPr>
            <a:spLocks noGrp="1"/>
          </p:cNvSpPr>
          <p:nvPr/>
        </p:nvSpPr>
        <p:spPr>
          <a:xfrm>
            <a:off x="8763000" y="16383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REPORTED RESULT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32593D-DE2B-491A-80EB-0924BFAECBE3}"/>
              </a:ext>
            </a:extLst>
          </p:cNvPr>
          <p:cNvSpPr>
            <a:spLocks noGrp="1"/>
          </p:cNvSpPr>
          <p:nvPr/>
        </p:nvSpPr>
        <p:spPr>
          <a:xfrm>
            <a:off x="619125" y="1962150"/>
            <a:ext cx="10934700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BA347F-52E4-4FF6-BDE1-65954DDE5B7A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23"/>
                </a:solidFill>
              </a:defRPr>
            </a:pPr>
            <a:r>
              <a:rPr sz="1275" b="0">
                <a:solidFill>
                  <a:srgbClr val="1D2923"/>
                </a:solidFill>
              </a:rPr>
              <a:t>Kunwar,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1727B9-B176-4177-8FB6-E8EBB32FB906}"/>
              </a:ext>
            </a:extLst>
          </p:cNvPr>
          <p:cNvSpPr>
            <a:spLocks noGrp="1"/>
          </p:cNvSpPr>
          <p:nvPr/>
        </p:nvSpPr>
        <p:spPr>
          <a:xfrm>
            <a:off x="3429000" y="2095500"/>
            <a:ext cx="2238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23"/>
                </a:solidFill>
              </a:defRPr>
            </a:pPr>
            <a:r>
              <a:rPr sz="1275" b="0">
                <a:solidFill>
                  <a:srgbClr val="1D2923"/>
                </a:solidFill>
              </a:rPr>
              <a:t>10-class GD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32CF13-0F9F-4659-A105-F918E31DBE3F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23"/>
                </a:solidFill>
              </a:defRPr>
            </a:pPr>
            <a:r>
              <a:rPr sz="1275" b="0">
                <a:solidFill>
                  <a:srgbClr val="1D2923"/>
                </a:solidFill>
              </a:rPr>
              <a:t>EfficientNetV2-S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E50FC-B19B-45FA-88D6-3C6DBA4674DD}"/>
              </a:ext>
            </a:extLst>
          </p:cNvPr>
          <p:cNvSpPr>
            <a:spLocks noGrp="1"/>
          </p:cNvSpPr>
          <p:nvPr/>
        </p:nvSpPr>
        <p:spPr>
          <a:xfrm>
            <a:off x="8763000" y="209550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73B2B"/>
                </a:solidFill>
              </a:defRPr>
            </a:pPr>
            <a:r>
              <a:rPr sz="1275" b="1">
                <a:solidFill>
                  <a:srgbClr val="073B2B"/>
                </a:solidFill>
              </a:rPr>
              <a:t>96.19% accuracy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E7D1F-8246-4E99-BD7C-4528C37BB519}"/>
              </a:ext>
            </a:extLst>
          </p:cNvPr>
          <p:cNvSpPr>
            <a:spLocks noGrp="1"/>
          </p:cNvSpPr>
          <p:nvPr/>
        </p:nvSpPr>
        <p:spPr>
          <a:xfrm>
            <a:off x="619125" y="2847975"/>
            <a:ext cx="10934700" cy="666750"/>
          </a:xfrm>
          <a:prstGeom prst="rect">
            <a:avLst/>
          </a:prstGeom>
          <a:solidFill>
            <a:srgbClr val="E7EEE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706675-4946-48CE-9E6D-2FD114ACF227}"/>
              </a:ext>
            </a:extLst>
          </p:cNvPr>
          <p:cNvSpPr>
            <a:spLocks noGrp="1"/>
          </p:cNvSpPr>
          <p:nvPr/>
        </p:nvSpPr>
        <p:spPr>
          <a:xfrm>
            <a:off x="714375" y="2981325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23"/>
                </a:solidFill>
              </a:defRPr>
            </a:pPr>
            <a:r>
              <a:rPr sz="1275" b="0">
                <a:solidFill>
                  <a:srgbClr val="1D2923"/>
                </a:solidFill>
              </a:rPr>
              <a:t>TACO, 2020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49399E-A4A9-4B81-8FBC-3DE3B91680A0}"/>
              </a:ext>
            </a:extLst>
          </p:cNvPr>
          <p:cNvSpPr>
            <a:spLocks noGrp="1"/>
          </p:cNvSpPr>
          <p:nvPr/>
        </p:nvSpPr>
        <p:spPr>
          <a:xfrm>
            <a:off x="3429000" y="2981325"/>
            <a:ext cx="2238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23"/>
                </a:solidFill>
              </a:defRPr>
            </a:pPr>
            <a:r>
              <a:rPr sz="1275" b="0">
                <a:solidFill>
                  <a:srgbClr val="1D2923"/>
                </a:solidFill>
              </a:rPr>
              <a:t>Litter in context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5FE5B3-A8B6-4441-A47D-79621CAF2274}"/>
              </a:ext>
            </a:extLst>
          </p:cNvPr>
          <p:cNvSpPr>
            <a:spLocks noGrp="1"/>
          </p:cNvSpPr>
          <p:nvPr/>
        </p:nvSpPr>
        <p:spPr>
          <a:xfrm>
            <a:off x="5905500" y="2981325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23"/>
                </a:solidFill>
              </a:defRPr>
            </a:pPr>
            <a:r>
              <a:rPr sz="1275" b="0">
                <a:solidFill>
                  <a:srgbClr val="1D2923"/>
                </a:solidFill>
              </a:rPr>
              <a:t>Mask R-CNN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7602A2-DE75-4641-AD59-2BCF285733F6}"/>
              </a:ext>
            </a:extLst>
          </p:cNvPr>
          <p:cNvSpPr>
            <a:spLocks noGrp="1"/>
          </p:cNvSpPr>
          <p:nvPr/>
        </p:nvSpPr>
        <p:spPr>
          <a:xfrm>
            <a:off x="8763000" y="2981325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73B2B"/>
                </a:solidFill>
              </a:defRPr>
            </a:pPr>
            <a:r>
              <a:rPr sz="1275" b="1">
                <a:solidFill>
                  <a:srgbClr val="073B2B"/>
                </a:solidFill>
              </a:rPr>
              <a:t>26.2% 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084287-F8E0-4800-A5B3-10A6E4832EA6}"/>
              </a:ext>
            </a:extLst>
          </p:cNvPr>
          <p:cNvSpPr>
            <a:spLocks noGrp="1"/>
          </p:cNvSpPr>
          <p:nvPr/>
        </p:nvSpPr>
        <p:spPr>
          <a:xfrm>
            <a:off x="619125" y="3733800"/>
            <a:ext cx="10934700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A4E9C1-56ED-4DD0-BD42-65DC3D216DD1}"/>
              </a:ext>
            </a:extLst>
          </p:cNvPr>
          <p:cNvSpPr>
            <a:spLocks noGrp="1"/>
          </p:cNvSpPr>
          <p:nvPr/>
        </p:nvSpPr>
        <p:spPr>
          <a:xfrm>
            <a:off x="714375" y="386715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23"/>
                </a:solidFill>
              </a:defRPr>
            </a:pPr>
            <a:r>
              <a:rPr sz="1275" b="0">
                <a:solidFill>
                  <a:srgbClr val="1D2923"/>
                </a:solidFill>
              </a:rPr>
              <a:t>TrashCan, 2020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83895F-25F7-44B2-98B8-C9F511D7EB34}"/>
              </a:ext>
            </a:extLst>
          </p:cNvPr>
          <p:cNvSpPr>
            <a:spLocks noGrp="1"/>
          </p:cNvSpPr>
          <p:nvPr/>
        </p:nvSpPr>
        <p:spPr>
          <a:xfrm>
            <a:off x="3429000" y="3867150"/>
            <a:ext cx="2238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23"/>
                </a:solidFill>
              </a:defRPr>
            </a:pPr>
            <a:r>
              <a:rPr sz="1275" b="0">
                <a:solidFill>
                  <a:srgbClr val="1D2923"/>
                </a:solidFill>
              </a:rPr>
              <a:t>Marine debris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6A4886-2806-462A-B139-8ED2B270B459}"/>
              </a:ext>
            </a:extLst>
          </p:cNvPr>
          <p:cNvSpPr>
            <a:spLocks noGrp="1"/>
          </p:cNvSpPr>
          <p:nvPr/>
        </p:nvSpPr>
        <p:spPr>
          <a:xfrm>
            <a:off x="5905500" y="386715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D2923"/>
                </a:solidFill>
              </a:defRPr>
            </a:pPr>
            <a:r>
              <a:rPr sz="1275" b="0">
                <a:solidFill>
                  <a:srgbClr val="1D2923"/>
                </a:solidFill>
              </a:rPr>
              <a:t>Mask / Faster R-CNN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62493E-01BA-4F06-BCAD-4E811AF87F2A}"/>
              </a:ext>
            </a:extLst>
          </p:cNvPr>
          <p:cNvSpPr>
            <a:spLocks noGrp="1"/>
          </p:cNvSpPr>
          <p:nvPr/>
        </p:nvSpPr>
        <p:spPr>
          <a:xfrm>
            <a:off x="8763000" y="386715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73B2B"/>
                </a:solidFill>
              </a:defRPr>
            </a:pPr>
            <a:r>
              <a:rPr sz="1275" b="1">
                <a:solidFill>
                  <a:srgbClr val="073B2B"/>
                </a:solidFill>
              </a:rPr>
              <a:t>55.4% mAP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C5C0B5-E581-4A73-82BB-292D754582BD}"/>
              </a:ext>
            </a:extLst>
          </p:cNvPr>
          <p:cNvSpPr>
            <a:spLocks noGrp="1"/>
          </p:cNvSpPr>
          <p:nvPr/>
        </p:nvSpPr>
        <p:spPr>
          <a:xfrm>
            <a:off x="1524000" y="5000625"/>
            <a:ext cx="9144000" cy="781050"/>
          </a:xfrm>
          <a:prstGeom prst="roundRect">
            <a:avLst>
              <a:gd name="adj" fmla="val 14634"/>
            </a:avLst>
          </a:prstGeom>
          <a:solidFill>
            <a:srgbClr val="DCE9C8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5F2693-535A-4E9D-B4A6-90C39718A0A6}"/>
              </a:ext>
            </a:extLst>
          </p:cNvPr>
          <p:cNvSpPr>
            <a:spLocks noGrp="1"/>
          </p:cNvSpPr>
          <p:nvPr/>
        </p:nvSpPr>
        <p:spPr>
          <a:xfrm>
            <a:off x="1809750" y="51720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7A52"/>
                </a:solidFill>
              </a:defRPr>
            </a:pPr>
            <a:r>
              <a:rPr sz="1350" b="1">
                <a:solidFill>
                  <a:srgbClr val="167A52"/>
                </a:solidFill>
              </a:rPr>
              <a:t>Research gap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16DAD-A9D9-45B5-A89C-9B61CABB4F77}"/>
              </a:ext>
            </a:extLst>
          </p:cNvPr>
          <p:cNvSpPr>
            <a:spLocks noGrp="1"/>
          </p:cNvSpPr>
          <p:nvPr/>
        </p:nvSpPr>
        <p:spPr>
          <a:xfrm>
            <a:off x="3714750" y="5124450"/>
            <a:ext cx="657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73B2B"/>
                </a:solidFill>
              </a:defRPr>
            </a:pPr>
            <a:r>
              <a:rPr sz="1500" b="1">
                <a:solidFill>
                  <a:srgbClr val="073B2B"/>
                </a:solidFill>
              </a:rPr>
              <a:t>Strong curated-image scores still need testing under dirt, clutter, occlusion, and domain shift.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9FC817-2B62-462E-897E-924B300B662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8766E"/>
                </a:solidFill>
              </a:defRPr>
            </a:pPr>
            <a:r>
              <a:rPr sz="750" b="1">
                <a:solidFill>
                  <a:srgbClr val="68766E"/>
                </a:solidFill>
              </a:rPr>
              <a:t>ECOSORT AI · GRADUATION PROJECT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B18541-978A-4772-8F63-4DDC6760D6C1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8766E"/>
                </a:solidFill>
              </a:defRPr>
            </a:pPr>
            <a:r>
              <a:rPr sz="750" b="1">
                <a:solidFill>
                  <a:srgbClr val="68766E"/>
                </a:solidFill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716664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DDEA76AC-3EA6-4250-8946-C3993FA046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67A5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B44F88-C3D5-4486-8875-2BBE4B6FB21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06 · PROPOSED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CA367-7824-4DE1-AB77-BA7D004B9EC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73B2B"/>
                </a:solidFill>
              </a:defRPr>
            </a:pPr>
            <a:r>
              <a:rPr sz="2700" b="1">
                <a:solidFill>
                  <a:srgbClr val="073B2B"/>
                </a:solidFill>
              </a:rPr>
              <a:t>A controlled pipeline keeps evaluation honest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CE7687-7695-462E-819E-3FE28A247799}"/>
              </a:ext>
            </a:extLst>
          </p:cNvPr>
          <p:cNvSpPr>
            <a:spLocks noGrp="1"/>
          </p:cNvSpPr>
          <p:nvPr/>
        </p:nvSpPr>
        <p:spPr>
          <a:xfrm>
            <a:off x="11096625" y="4000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8766E"/>
                </a:solidFill>
              </a:defRPr>
            </a:pPr>
            <a:r>
              <a:rPr sz="1125" b="1">
                <a:solidFill>
                  <a:srgbClr val="68766E"/>
                </a:solidFill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B049B6-C70A-4614-92DE-68A153F2FC3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B8C9B6"/>
          </a:solidFill>
          <a:ln w="0">
            <a:noFill/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070BD5-8039-43C4-95B1-C4D162C1171E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1143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8C9B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8B162-8CEC-4194-8E39-4070DFB37907}"/>
              </a:ext>
            </a:extLst>
          </p:cNvPr>
          <p:cNvSpPr>
            <a:spLocks noGrp="1"/>
          </p:cNvSpPr>
          <p:nvPr/>
        </p:nvSpPr>
        <p:spPr>
          <a:xfrm>
            <a:off x="762000" y="2543175"/>
            <a:ext cx="99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BCCEC3-7B38-4E68-B52D-5032E359DB55}"/>
              </a:ext>
            </a:extLst>
          </p:cNvPr>
          <p:cNvSpPr>
            <a:spLocks noGrp="1"/>
          </p:cNvSpPr>
          <p:nvPr/>
        </p:nvSpPr>
        <p:spPr>
          <a:xfrm>
            <a:off x="1828800" y="257175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A52"/>
                </a:solidFill>
              </a:defRPr>
            </a:pPr>
            <a:r>
              <a:rPr sz="1425" b="1">
                <a:solidFill>
                  <a:srgbClr val="167A52"/>
                </a:solidFill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D863B4-A6B0-488C-9D97-25E4D8D1DC18}"/>
              </a:ext>
            </a:extLst>
          </p:cNvPr>
          <p:cNvSpPr>
            <a:spLocks noGrp="1"/>
          </p:cNvSpPr>
          <p:nvPr/>
        </p:nvSpPr>
        <p:spPr>
          <a:xfrm>
            <a:off x="2066925" y="2333625"/>
            <a:ext cx="1143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8C9B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FF55E2-AE1B-41AC-AE7B-EB83C3D60293}"/>
              </a:ext>
            </a:extLst>
          </p:cNvPr>
          <p:cNvSpPr>
            <a:spLocks noGrp="1"/>
          </p:cNvSpPr>
          <p:nvPr/>
        </p:nvSpPr>
        <p:spPr>
          <a:xfrm>
            <a:off x="2143125" y="2543175"/>
            <a:ext cx="99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Validate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6D9239-E546-4DB3-9CDD-E1D36912E8BE}"/>
              </a:ext>
            </a:extLst>
          </p:cNvPr>
          <p:cNvSpPr>
            <a:spLocks noGrp="1"/>
          </p:cNvSpPr>
          <p:nvPr/>
        </p:nvSpPr>
        <p:spPr>
          <a:xfrm>
            <a:off x="3209925" y="257175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A52"/>
                </a:solidFill>
              </a:defRPr>
            </a:pPr>
            <a:r>
              <a:rPr sz="1425" b="1">
                <a:solidFill>
                  <a:srgbClr val="167A52"/>
                </a:solidFill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01C9A0-8169-4A04-B6AC-25918FDBE2D4}"/>
              </a:ext>
            </a:extLst>
          </p:cNvPr>
          <p:cNvSpPr>
            <a:spLocks noGrp="1"/>
          </p:cNvSpPr>
          <p:nvPr/>
        </p:nvSpPr>
        <p:spPr>
          <a:xfrm>
            <a:off x="3448050" y="2333625"/>
            <a:ext cx="1143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8C9B6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6E9A44-2085-4430-B44B-68C20419294F}"/>
              </a:ext>
            </a:extLst>
          </p:cNvPr>
          <p:cNvSpPr>
            <a:spLocks noGrp="1"/>
          </p:cNvSpPr>
          <p:nvPr/>
        </p:nvSpPr>
        <p:spPr>
          <a:xfrm>
            <a:off x="3524250" y="2543175"/>
            <a:ext cx="99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Resize + normalize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25A057-F649-43C8-8195-2ADC20A54298}"/>
              </a:ext>
            </a:extLst>
          </p:cNvPr>
          <p:cNvSpPr>
            <a:spLocks noGrp="1"/>
          </p:cNvSpPr>
          <p:nvPr/>
        </p:nvSpPr>
        <p:spPr>
          <a:xfrm>
            <a:off x="4591050" y="257175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A52"/>
                </a:solidFill>
              </a:defRPr>
            </a:pPr>
            <a:r>
              <a:rPr sz="1425" b="1">
                <a:solidFill>
                  <a:srgbClr val="167A52"/>
                </a:solidFill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E6630B-14AE-4425-83B7-8B17C19D6403}"/>
              </a:ext>
            </a:extLst>
          </p:cNvPr>
          <p:cNvSpPr>
            <a:spLocks noGrp="1"/>
          </p:cNvSpPr>
          <p:nvPr/>
        </p:nvSpPr>
        <p:spPr>
          <a:xfrm>
            <a:off x="4829175" y="2333625"/>
            <a:ext cx="1143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8C9B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DDE7B-860B-46D3-92C4-7F9C6DE76088}"/>
              </a:ext>
            </a:extLst>
          </p:cNvPr>
          <p:cNvSpPr>
            <a:spLocks noGrp="1"/>
          </p:cNvSpPr>
          <p:nvPr/>
        </p:nvSpPr>
        <p:spPr>
          <a:xfrm>
            <a:off x="4905375" y="2543175"/>
            <a:ext cx="99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Train-only augmentation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4B1B84-CAA7-4263-8CB8-A09B65C06B46}"/>
              </a:ext>
            </a:extLst>
          </p:cNvPr>
          <p:cNvSpPr>
            <a:spLocks noGrp="1"/>
          </p:cNvSpPr>
          <p:nvPr/>
        </p:nvSpPr>
        <p:spPr>
          <a:xfrm>
            <a:off x="5972175" y="257175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A52"/>
                </a:solidFill>
              </a:defRPr>
            </a:pPr>
            <a:r>
              <a:rPr sz="1425" b="1">
                <a:solidFill>
                  <a:srgbClr val="167A52"/>
                </a:solidFill>
              </a:rPr>
              <a:t>→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0458435-FF20-461F-AE17-3A3C6EBD688B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1143000" cy="723900"/>
          </a:xfrm>
          <a:prstGeom prst="roundRect">
            <a:avLst>
              <a:gd name="adj" fmla="val 15789"/>
            </a:avLst>
          </a:prstGeom>
          <a:solidFill>
            <a:srgbClr val="167A52"/>
          </a:solidFill>
          <a:ln w="9525">
            <a:solidFill>
              <a:srgbClr val="167A5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74CA9-E992-47FD-A577-BD2F03CF9E31}"/>
              </a:ext>
            </a:extLst>
          </p:cNvPr>
          <p:cNvSpPr>
            <a:spLocks noGrp="1"/>
          </p:cNvSpPr>
          <p:nvPr/>
        </p:nvSpPr>
        <p:spPr>
          <a:xfrm>
            <a:off x="6286500" y="2543175"/>
            <a:ext cx="99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Deep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FF9430-1677-4247-B1BD-FB8B404A7681}"/>
              </a:ext>
            </a:extLst>
          </p:cNvPr>
          <p:cNvSpPr>
            <a:spLocks noGrp="1"/>
          </p:cNvSpPr>
          <p:nvPr/>
        </p:nvSpPr>
        <p:spPr>
          <a:xfrm>
            <a:off x="7353300" y="257175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A52"/>
                </a:solidFill>
              </a:defRPr>
            </a:pPr>
            <a:r>
              <a:rPr sz="1425" b="1">
                <a:solidFill>
                  <a:srgbClr val="167A52"/>
                </a:solidFill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215B910-BABC-459B-B22E-4C746A790B97}"/>
              </a:ext>
            </a:extLst>
          </p:cNvPr>
          <p:cNvSpPr>
            <a:spLocks noGrp="1"/>
          </p:cNvSpPr>
          <p:nvPr/>
        </p:nvSpPr>
        <p:spPr>
          <a:xfrm>
            <a:off x="7591425" y="2333625"/>
            <a:ext cx="1143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8C9B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D6DCD9-1169-419C-AC08-45BE842E592F}"/>
              </a:ext>
            </a:extLst>
          </p:cNvPr>
          <p:cNvSpPr>
            <a:spLocks noGrp="1"/>
          </p:cNvSpPr>
          <p:nvPr/>
        </p:nvSpPr>
        <p:spPr>
          <a:xfrm>
            <a:off x="7667625" y="2543175"/>
            <a:ext cx="99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Probabilities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A99B24-0A49-4A4F-BAD0-F8EFE7166BEC}"/>
              </a:ext>
            </a:extLst>
          </p:cNvPr>
          <p:cNvSpPr>
            <a:spLocks noGrp="1"/>
          </p:cNvSpPr>
          <p:nvPr/>
        </p:nvSpPr>
        <p:spPr>
          <a:xfrm>
            <a:off x="8734425" y="257175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A52"/>
                </a:solidFill>
              </a:defRPr>
            </a:pPr>
            <a:r>
              <a:rPr sz="1425" b="1">
                <a:solidFill>
                  <a:srgbClr val="167A52"/>
                </a:solidFill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27C6846-6B89-4E09-A6D8-251DDB0DDEEE}"/>
              </a:ext>
            </a:extLst>
          </p:cNvPr>
          <p:cNvSpPr>
            <a:spLocks noGrp="1"/>
          </p:cNvSpPr>
          <p:nvPr/>
        </p:nvSpPr>
        <p:spPr>
          <a:xfrm>
            <a:off x="8972550" y="2333625"/>
            <a:ext cx="1143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8C9B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29B784-3E86-4984-87AB-48BBC41CBC5E}"/>
              </a:ext>
            </a:extLst>
          </p:cNvPr>
          <p:cNvSpPr>
            <a:spLocks noGrp="1"/>
          </p:cNvSpPr>
          <p:nvPr/>
        </p:nvSpPr>
        <p:spPr>
          <a:xfrm>
            <a:off x="9048750" y="2543175"/>
            <a:ext cx="99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Prediction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12B911-2C84-4807-BE47-D5518357E3E8}"/>
              </a:ext>
            </a:extLst>
          </p:cNvPr>
          <p:cNvSpPr>
            <a:spLocks noGrp="1"/>
          </p:cNvSpPr>
          <p:nvPr/>
        </p:nvSpPr>
        <p:spPr>
          <a:xfrm>
            <a:off x="10115550" y="257175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67A52"/>
                </a:solidFill>
              </a:defRPr>
            </a:pPr>
            <a:r>
              <a:rPr sz="1425" b="1">
                <a:solidFill>
                  <a:srgbClr val="167A52"/>
                </a:solidFill>
              </a:rPr>
              <a:t>→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5211A8E-1921-4293-905F-EB1FA11B1A4F}"/>
              </a:ext>
            </a:extLst>
          </p:cNvPr>
          <p:cNvSpPr>
            <a:spLocks noGrp="1"/>
          </p:cNvSpPr>
          <p:nvPr/>
        </p:nvSpPr>
        <p:spPr>
          <a:xfrm>
            <a:off x="10353675" y="2333625"/>
            <a:ext cx="1143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8C9B6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AE586F-2360-4B78-AE91-95C887D72460}"/>
              </a:ext>
            </a:extLst>
          </p:cNvPr>
          <p:cNvSpPr>
            <a:spLocks noGrp="1"/>
          </p:cNvSpPr>
          <p:nvPr/>
        </p:nvSpPr>
        <p:spPr>
          <a:xfrm>
            <a:off x="10429875" y="2543175"/>
            <a:ext cx="99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Guidance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3888856-9780-425D-B3B0-E6D04349E3DC}"/>
              </a:ext>
            </a:extLst>
          </p:cNvPr>
          <p:cNvSpPr>
            <a:spLocks noGrp="1"/>
          </p:cNvSpPr>
          <p:nvPr/>
        </p:nvSpPr>
        <p:spPr>
          <a:xfrm>
            <a:off x="1676400" y="3714750"/>
            <a:ext cx="2667000" cy="361950"/>
          </a:xfrm>
          <a:prstGeom prst="roundRect">
            <a:avLst>
              <a:gd name="adj" fmla="val 31579"/>
            </a:avLst>
          </a:prstGeom>
          <a:solidFill>
            <a:srgbClr val="DCE9C8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FF46CA-FFED-4C7E-9DB5-23E6203607EA}"/>
              </a:ext>
            </a:extLst>
          </p:cNvPr>
          <p:cNvSpPr>
            <a:spLocks noGrp="1"/>
          </p:cNvSpPr>
          <p:nvPr/>
        </p:nvSpPr>
        <p:spPr>
          <a:xfrm>
            <a:off x="1771650" y="3790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73B2B"/>
                </a:solidFill>
              </a:defRPr>
            </a:pPr>
            <a:r>
              <a:rPr sz="1050" b="1">
                <a:solidFill>
                  <a:srgbClr val="073B2B"/>
                </a:solidFill>
              </a:rPr>
              <a:t>ConvNeXt-Tiny · 96.33%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8DA7BB6-36DB-488D-B0F4-EFB87A5B3AFF}"/>
              </a:ext>
            </a:extLst>
          </p:cNvPr>
          <p:cNvSpPr>
            <a:spLocks noGrp="1"/>
          </p:cNvSpPr>
          <p:nvPr/>
        </p:nvSpPr>
        <p:spPr>
          <a:xfrm>
            <a:off x="4762500" y="3714750"/>
            <a:ext cx="3048000" cy="361950"/>
          </a:xfrm>
          <a:prstGeom prst="roundRect">
            <a:avLst>
              <a:gd name="adj" fmla="val 31579"/>
            </a:avLst>
          </a:prstGeom>
          <a:solidFill>
            <a:srgbClr val="E7EEE4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121C5F-AA5A-48A5-82CE-48388BB32414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73B2B"/>
                </a:solidFill>
              </a:defRPr>
            </a:pPr>
            <a:r>
              <a:rPr sz="1050" b="1" dirty="0">
                <a:solidFill>
                  <a:srgbClr val="073B2B"/>
                </a:solidFill>
              </a:rPr>
              <a:t>EfficientNetV2-S · 9</a:t>
            </a:r>
            <a:r>
              <a:rPr lang="en-US" sz="1050" b="1" dirty="0">
                <a:solidFill>
                  <a:srgbClr val="073B2B"/>
                </a:solidFill>
              </a:rPr>
              <a:t>3</a:t>
            </a:r>
            <a:r>
              <a:rPr sz="1050" b="1" dirty="0">
                <a:solidFill>
                  <a:srgbClr val="073B2B"/>
                </a:solidFill>
              </a:rPr>
              <a:t>.</a:t>
            </a:r>
            <a:r>
              <a:rPr lang="en-US" sz="1050" b="1" dirty="0">
                <a:solidFill>
                  <a:srgbClr val="073B2B"/>
                </a:solidFill>
              </a:rPr>
              <a:t>8</a:t>
            </a:r>
            <a:r>
              <a:rPr sz="1050" b="1" dirty="0">
                <a:solidFill>
                  <a:srgbClr val="073B2B"/>
                </a:solidFill>
              </a:rPr>
              <a:t>4% validation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1C35DBA-AFDE-423E-B04E-EF6465CFB4B6}"/>
              </a:ext>
            </a:extLst>
          </p:cNvPr>
          <p:cNvSpPr>
            <a:spLocks noGrp="1"/>
          </p:cNvSpPr>
          <p:nvPr/>
        </p:nvSpPr>
        <p:spPr>
          <a:xfrm>
            <a:off x="8239125" y="3714750"/>
            <a:ext cx="2476500" cy="361950"/>
          </a:xfrm>
          <a:prstGeom prst="roundRect">
            <a:avLst>
              <a:gd name="adj" fmla="val 31579"/>
            </a:avLst>
          </a:prstGeom>
          <a:solidFill>
            <a:srgbClr val="E7EEE4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20E049-468F-465F-A795-B25DBACF5B7E}"/>
              </a:ext>
            </a:extLst>
          </p:cNvPr>
          <p:cNvSpPr>
            <a:spLocks noGrp="1"/>
          </p:cNvSpPr>
          <p:nvPr/>
        </p:nvSpPr>
        <p:spPr>
          <a:xfrm>
            <a:off x="8334375" y="37909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73B2B"/>
                </a:solidFill>
              </a:defRPr>
            </a:pPr>
            <a:r>
              <a:rPr sz="1050" b="1">
                <a:solidFill>
                  <a:srgbClr val="073B2B"/>
                </a:solidFill>
              </a:rPr>
              <a:t>MobileNetV2 · 94.21%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F6CE2D-A00B-44B7-A0FC-33DFE58C1502}"/>
              </a:ext>
            </a:extLst>
          </p:cNvPr>
          <p:cNvSpPr>
            <a:spLocks noGrp="1"/>
          </p:cNvSpPr>
          <p:nvPr/>
        </p:nvSpPr>
        <p:spPr>
          <a:xfrm>
            <a:off x="2762250" y="4810125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73B2B"/>
                </a:solidFill>
              </a:defRPr>
            </a:pPr>
            <a:r>
              <a:rPr sz="1875" b="1">
                <a:solidFill>
                  <a:srgbClr val="073B2B"/>
                </a:solidFill>
              </a:rPr>
              <a:t>Low-confidence cases should be flagged for review.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A896F3-148B-445D-9923-E828E938E82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8766E"/>
                </a:solidFill>
              </a:defRPr>
            </a:pPr>
            <a:r>
              <a:rPr sz="750" b="1">
                <a:solidFill>
                  <a:srgbClr val="68766E"/>
                </a:solidFill>
              </a:rPr>
              <a:t>ECOSORT AI · GRADUATION PROJECT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2146CD-7625-44A6-9EF2-05B6B53030CE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8766E"/>
                </a:solidFill>
              </a:defRPr>
            </a:pPr>
            <a:r>
              <a:rPr sz="750" b="1">
                <a:solidFill>
                  <a:srgbClr val="68766E"/>
                </a:solidFill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321970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01816"/>
            <a:ext cx="11277600" cy="37043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02518"/>
            <a:ext cx="3048000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700" y="1102518"/>
            <a:ext cx="4610100" cy="495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0" y="1102518"/>
            <a:ext cx="3238500" cy="495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1112043"/>
            <a:ext cx="3028950" cy="352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225" y="1112043"/>
            <a:ext cx="4591050" cy="3524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5825" y="1112043"/>
            <a:ext cx="3219450" cy="3524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1597818"/>
            <a:ext cx="272415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2169318"/>
            <a:ext cx="27241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2893218"/>
            <a:ext cx="27241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3617118"/>
            <a:ext cx="2724150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" y="4188618"/>
            <a:ext cx="27241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" y="4912518"/>
            <a:ext cx="2724150" cy="323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49050" y="342900"/>
            <a:ext cx="2857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C2C0B6"/>
                </a:solidFill>
                <a:latin typeface="Merriweather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342900"/>
            <a:ext cx="67627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E7A4A"/>
                </a:solidFill>
                <a:latin typeface="DM Sans"/>
              </a:rPr>
              <a:t>01 • WORKFLOW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2925"/>
            <a:ext cx="7330916" cy="394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132E1B"/>
                </a:solidFill>
                <a:latin typeface="Merriweather"/>
              </a:rPr>
              <a:t>ConvNeXt Garbage Classification Pipeline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361950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00162" y="1226343"/>
            <a:ext cx="1524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29225" y="1226343"/>
            <a:ext cx="1619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48787" y="1226343"/>
            <a:ext cx="114300" cy="123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58225" y="1597818"/>
            <a:ext cx="2914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283D"/>
                </a:solidFill>
                <a:latin typeface="DM Sans"/>
              </a:rPr>
              <a:t>Training 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1940718"/>
            <a:ext cx="21812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DM Sans"/>
              </a:rPr>
              <a:t> Optimizer</a:t>
            </a:r>
            <a:r>
              <a:rPr sz="937" b="0" i="0" u="none">
                <a:solidFill>
                  <a:srgbClr val="2B2B2B"/>
                </a:solidFill>
                <a:latin typeface="DM Sans"/>
              </a:rPr>
              <a:t> </a:t>
            </a:r>
            <a:r>
              <a:rPr sz="937" b="1" i="0" u="none">
                <a:solidFill>
                  <a:srgbClr val="0F283D"/>
                </a:solidFill>
                <a:latin typeface="DM Sans"/>
              </a:rPr>
              <a:t>AdamW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58225" y="2150268"/>
            <a:ext cx="2914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20225" y="2312193"/>
            <a:ext cx="21526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DM Sans"/>
              </a:rPr>
              <a:t> Batch Size</a:t>
            </a:r>
            <a:r>
              <a:rPr sz="937" b="0" i="0" u="none">
                <a:solidFill>
                  <a:srgbClr val="2B2B2B"/>
                </a:solidFill>
                <a:latin typeface="DM Sans"/>
              </a:rPr>
              <a:t> </a:t>
            </a:r>
            <a:r>
              <a:rPr sz="937" b="1" i="0" u="none">
                <a:solidFill>
                  <a:srgbClr val="0F283D"/>
                </a:solidFill>
                <a:latin typeface="DM Sans"/>
              </a:rPr>
              <a:t>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58225" y="2521743"/>
            <a:ext cx="2914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96425" y="2683668"/>
            <a:ext cx="20764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DM Sans"/>
              </a:rPr>
              <a:t> Max Epochs</a:t>
            </a:r>
            <a:r>
              <a:rPr sz="937" b="0" i="0" u="none">
                <a:solidFill>
                  <a:srgbClr val="2B2B2B"/>
                </a:solidFill>
                <a:latin typeface="DM Sans"/>
              </a:rPr>
              <a:t> </a:t>
            </a:r>
            <a:r>
              <a:rPr sz="937" b="1" i="0" u="none">
                <a:solidFill>
                  <a:srgbClr val="0F283D"/>
                </a:solidFill>
                <a:latin typeface="DM Sans"/>
              </a:rPr>
              <a:t>40 (Early Stop)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58225" y="2893218"/>
            <a:ext cx="2914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01175" y="3055143"/>
            <a:ext cx="217170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DM Sans"/>
              </a:rPr>
              <a:t> Image Size</a:t>
            </a:r>
            <a:r>
              <a:rPr sz="937" b="0" i="0" u="none">
                <a:solidFill>
                  <a:srgbClr val="2B2B2B"/>
                </a:solidFill>
                <a:latin typeface="DM Sans"/>
              </a:rPr>
              <a:t> </a:t>
            </a:r>
            <a:r>
              <a:rPr sz="937" b="1" i="0" u="none">
                <a:solidFill>
                  <a:srgbClr val="0F283D"/>
                </a:solidFill>
                <a:latin typeface="DM Sans"/>
              </a:rPr>
              <a:t>384 × 384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58225" y="3264693"/>
            <a:ext cx="2914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58225" y="3464718"/>
            <a:ext cx="2914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283D"/>
                </a:solidFill>
                <a:latin typeface="DM Sans"/>
              </a:rPr>
              <a:t>Validation Status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43100" y="1997868"/>
            <a:ext cx="76200" cy="1047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00187" y="2426493"/>
            <a:ext cx="9620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0369A1"/>
                </a:solidFill>
                <a:latin typeface="DM Sans"/>
              </a:rPr>
              <a:t>(ImageNet Mean/Std)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43100" y="2721768"/>
            <a:ext cx="76200" cy="1047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28762" y="3150393"/>
            <a:ext cx="9048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B21A8"/>
                </a:solidFill>
                <a:latin typeface="DM Sans"/>
              </a:rPr>
              <a:t>(Feature Extraction)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43100" y="3445668"/>
            <a:ext cx="76200" cy="1047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43100" y="4017168"/>
            <a:ext cx="76200" cy="1047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04950" y="4445793"/>
            <a:ext cx="952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2400E"/>
                </a:solidFill>
                <a:latin typeface="DM Sans"/>
              </a:rPr>
              <a:t>(1024 → 256 + ReLU)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43100" y="4741068"/>
            <a:ext cx="76200" cy="1047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57625" y="1607343"/>
            <a:ext cx="209550" cy="2095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162425" y="1597818"/>
            <a:ext cx="3981450" cy="500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 dirty="0">
                <a:solidFill>
                  <a:srgbClr val="111827"/>
                </a:solidFill>
                <a:latin typeface="DM Sans"/>
              </a:rPr>
              <a:t>Dataset &amp; Splits</a:t>
            </a:r>
            <a:r>
              <a:rPr sz="937" b="0" i="0" u="none" dirty="0">
                <a:solidFill>
                  <a:srgbClr val="444444"/>
                </a:solidFill>
                <a:latin typeface="DM Sans"/>
              </a:rPr>
              <a:t> 10 classes | Balanced Train (9,194 images), Val (1,839 images), Test [locked] (1,226 images).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57625" y="2259806"/>
            <a:ext cx="209550" cy="2095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162425" y="2250281"/>
            <a:ext cx="3981450" cy="500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>
                <a:solidFill>
                  <a:srgbClr val="111827"/>
                </a:solidFill>
                <a:latin typeface="DM Sans"/>
              </a:rPr>
              <a:t>Hyperparameter Setup</a:t>
            </a:r>
            <a:r>
              <a:rPr sz="937" b="0" i="0" u="none">
                <a:solidFill>
                  <a:srgbClr val="444444"/>
                </a:solidFill>
                <a:latin typeface="DM Sans"/>
              </a:rPr>
              <a:t> Grid search on validation split: LR = 0.0001, Weight Decay = 0.05, AdamW Optimizer.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57625" y="2912268"/>
            <a:ext cx="209550" cy="2095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162425" y="2902743"/>
            <a:ext cx="3981450" cy="500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>
                <a:solidFill>
                  <a:srgbClr val="111827"/>
                </a:solidFill>
                <a:latin typeface="DM Sans"/>
              </a:rPr>
              <a:t>Stage 1 — Fine-Tuning</a:t>
            </a:r>
            <a:r>
              <a:rPr sz="937" b="0" i="0" u="none">
                <a:solidFill>
                  <a:srgbClr val="444444"/>
                </a:solidFill>
                <a:latin typeface="DM Sans"/>
              </a:rPr>
              <a:t> Unfreeze last 4 ConvNeXt blocks | Differential LR: backbone 1e-4, head 1e-3.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57625" y="3564731"/>
            <a:ext cx="209550" cy="2095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162425" y="3555206"/>
            <a:ext cx="3981450" cy="500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>
                <a:solidFill>
                  <a:srgbClr val="111827"/>
                </a:solidFill>
                <a:latin typeface="DM Sans"/>
              </a:rPr>
              <a:t>Validation Strategy</a:t>
            </a:r>
            <a:r>
              <a:rPr sz="937" b="0" i="0" u="none">
                <a:solidFill>
                  <a:srgbClr val="444444"/>
                </a:solidFill>
                <a:latin typeface="DM Sans"/>
              </a:rPr>
              <a:t> 5-Fold Stratified Cross-Validation on Train + Validation set (Strict Data Isolation).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57625" y="4217193"/>
            <a:ext cx="209550" cy="2095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162425" y="4207668"/>
            <a:ext cx="3981450" cy="500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1" i="0" u="none">
                <a:solidFill>
                  <a:srgbClr val="111827"/>
                </a:solidFill>
                <a:latin typeface="DM Sans"/>
              </a:rPr>
              <a:t>Final Evaluation</a:t>
            </a:r>
            <a:r>
              <a:rPr sz="937" b="0" i="0" u="none">
                <a:solidFill>
                  <a:srgbClr val="444444"/>
                </a:solidFill>
                <a:latin typeface="DM Sans"/>
              </a:rPr>
              <a:t> Evaluate single best checkpoint once on held-out Test set (1,226 samples).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8250" y="3893343"/>
            <a:ext cx="1200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DM Sans"/>
              </a:rPr>
              <a:t>5-Fold CV: PASSED</a:t>
            </a:r>
            <a:r>
              <a:t>
</a:t>
            </a:r>
            <a:r>
              <a:rPr sz="900" b="0" i="0" u="none">
                <a:solidFill>
                  <a:srgbClr val="065F46"/>
                </a:solidFill>
                <a:latin typeface="DM Sans"/>
              </a:rPr>
              <a:t> Mean Val Acc: </a:t>
            </a:r>
            <a:r>
              <a:rPr sz="900" b="1" i="0" u="none">
                <a:solidFill>
                  <a:srgbClr val="065F46"/>
                </a:solidFill>
                <a:latin typeface="DM Sans"/>
              </a:rPr>
              <a:t>95.49%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82050" y="4598193"/>
            <a:ext cx="133350" cy="1524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991600" y="4521993"/>
            <a:ext cx="1533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DM Sans"/>
              </a:rPr>
              <a:t>Test Isolation: LOCKED</a:t>
            </a:r>
            <a:r>
              <a:t>
</a:t>
            </a:r>
            <a:r>
              <a:rPr sz="900" b="0" i="0" u="none">
                <a:solidFill>
                  <a:srgbClr val="1E40AF"/>
                </a:solidFill>
                <a:latin typeface="DM Sans"/>
              </a:rPr>
              <a:t> Zero Data Leakage Detected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19537" y="1664493"/>
            <a:ext cx="85725" cy="9525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14775" y="2316956"/>
            <a:ext cx="95250" cy="952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14775" y="2969418"/>
            <a:ext cx="95250" cy="952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14775" y="3621881"/>
            <a:ext cx="95250" cy="952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14775" y="4274343"/>
            <a:ext cx="95250" cy="9525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58225" y="1957387"/>
            <a:ext cx="123825" cy="119062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58225" y="2328862"/>
            <a:ext cx="133350" cy="119062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58225" y="2700337"/>
            <a:ext cx="123825" cy="119062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58225" y="3071812"/>
            <a:ext cx="104775" cy="1190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01816"/>
            <a:ext cx="11277600" cy="37043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1102518"/>
            <a:ext cx="7105650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1888331"/>
            <a:ext cx="2190750" cy="219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07681"/>
            <a:ext cx="1238250" cy="552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" y="4307681"/>
            <a:ext cx="1238250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0" y="4307681"/>
            <a:ext cx="1238250" cy="552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5012531"/>
            <a:ext cx="904875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8775" y="5012531"/>
            <a:ext cx="118110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6075" y="5012531"/>
            <a:ext cx="1285875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9175" y="1778793"/>
            <a:ext cx="3276600" cy="407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8175" y="1778793"/>
            <a:ext cx="3276600" cy="407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72050" y="1921668"/>
            <a:ext cx="29908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1050" y="1921668"/>
            <a:ext cx="299085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10950" y="342900"/>
            <a:ext cx="3238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C2C0B6"/>
                </a:solidFill>
                <a:latin typeface="Merriweath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342900"/>
            <a:ext cx="581977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E7A4A"/>
                </a:solidFill>
                <a:latin typeface="DM Sans"/>
              </a:rPr>
              <a:t>02 • EXPERIMENTAL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2925"/>
            <a:ext cx="6320790" cy="394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132E1B"/>
                </a:solidFill>
                <a:latin typeface="Merriweather"/>
              </a:rPr>
              <a:t>Verified ConvNeXt test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9175" y="1302543"/>
            <a:ext cx="6705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283D"/>
                </a:solidFill>
                <a:latin typeface="DM Sans"/>
              </a:rPr>
              <a:t>ConvNeXt Classification Pipeline &amp;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9175" y="1607343"/>
            <a:ext cx="6705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361950"/>
            <a:ext cx="142875" cy="1238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4825" y="4412456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32E1B"/>
                </a:solidFill>
                <a:latin typeface="Merriweather"/>
              </a:rPr>
              <a:t>95.74%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825" y="4622006"/>
            <a:ext cx="1143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DM Sans"/>
              </a:rPr>
              <a:t>Macro 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8325" y="4412456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32E1B"/>
                </a:solidFill>
                <a:latin typeface="Merriweather"/>
              </a:rPr>
              <a:t>95.54%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38325" y="4622006"/>
            <a:ext cx="1143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DM Sans"/>
              </a:rPr>
              <a:t>Macro 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1825" y="4412456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32E1B"/>
                </a:solidFill>
                <a:latin typeface="Merriweather"/>
              </a:rPr>
              <a:t>95.60%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1825" y="4622006"/>
            <a:ext cx="1143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DM Sans"/>
              </a:rPr>
              <a:t>Macro 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275" y="5069681"/>
            <a:ext cx="390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334155"/>
                </a:solidFill>
                <a:latin typeface="DM Sans Black"/>
              </a:rPr>
              <a:t>99.65%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4575" y="5069681"/>
            <a:ext cx="390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334155"/>
                </a:solidFill>
                <a:latin typeface="DM Sans Black"/>
              </a:rPr>
              <a:t>95.49%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0475" y="5069681"/>
            <a:ext cx="266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C05621"/>
                </a:solidFill>
                <a:latin typeface="DM Sans Black"/>
              </a:rPr>
              <a:t>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76900" y="2359818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DM Sans"/>
              </a:rPr>
              <a:t> Accuracy</a:t>
            </a:r>
            <a:r>
              <a:rPr sz="937" b="0" i="0" u="none">
                <a:solidFill>
                  <a:srgbClr val="2B2B2B"/>
                </a:solidFill>
                <a:latin typeface="DM Sans"/>
              </a:rPr>
              <a:t> </a:t>
            </a:r>
            <a:r>
              <a:rPr sz="937" b="1" i="0" u="none">
                <a:solidFill>
                  <a:srgbClr val="0F283D"/>
                </a:solidFill>
                <a:latin typeface="DM Sans"/>
              </a:rPr>
              <a:t>96.33%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72050" y="2569368"/>
            <a:ext cx="2990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15050" y="2731293"/>
            <a:ext cx="18478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DM Sans"/>
              </a:rPr>
              <a:t> Precision (macro)</a:t>
            </a:r>
            <a:r>
              <a:rPr sz="937" b="0" i="0" u="none">
                <a:solidFill>
                  <a:srgbClr val="2B2B2B"/>
                </a:solidFill>
                <a:latin typeface="DM Sans"/>
              </a:rPr>
              <a:t> </a:t>
            </a:r>
            <a:r>
              <a:rPr sz="937" b="1" i="0" u="none">
                <a:solidFill>
                  <a:srgbClr val="0F283D"/>
                </a:solidFill>
                <a:latin typeface="DM Sans"/>
              </a:rPr>
              <a:t>95.74%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72050" y="2940843"/>
            <a:ext cx="2990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0" y="3102768"/>
            <a:ext cx="201930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DM Sans"/>
              </a:rPr>
              <a:t> Recall (macro)</a:t>
            </a:r>
            <a:r>
              <a:rPr sz="937" b="0" i="0" u="none">
                <a:solidFill>
                  <a:srgbClr val="2B2B2B"/>
                </a:solidFill>
                <a:latin typeface="DM Sans"/>
              </a:rPr>
              <a:t> </a:t>
            </a:r>
            <a:r>
              <a:rPr sz="937" b="1" i="0" u="none">
                <a:solidFill>
                  <a:srgbClr val="0F283D"/>
                </a:solidFill>
                <a:latin typeface="DM Sans"/>
              </a:rPr>
              <a:t>95.54%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72050" y="3312318"/>
            <a:ext cx="2990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86475" y="3474243"/>
            <a:ext cx="18764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DM Sans"/>
              </a:rPr>
              <a:t> F1-Score (macro)</a:t>
            </a:r>
            <a:r>
              <a:rPr sz="937" b="0" i="0" u="none">
                <a:solidFill>
                  <a:srgbClr val="2B2B2B"/>
                </a:solidFill>
                <a:latin typeface="DM Sans"/>
              </a:rPr>
              <a:t> </a:t>
            </a:r>
            <a:r>
              <a:rPr sz="937" b="1" i="0" u="none">
                <a:solidFill>
                  <a:srgbClr val="0F283D"/>
                </a:solidFill>
                <a:latin typeface="DM Sans"/>
              </a:rPr>
              <a:t>95.60%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72050" y="3683793"/>
            <a:ext cx="2990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57900" y="3845718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DM Sans"/>
              </a:rPr>
              <a:t> Top-5 Accuracy</a:t>
            </a:r>
            <a:r>
              <a:rPr sz="937" b="0" i="0" u="none">
                <a:solidFill>
                  <a:srgbClr val="2B2B2B"/>
                </a:solidFill>
                <a:latin typeface="DM Sans"/>
              </a:rPr>
              <a:t> </a:t>
            </a:r>
            <a:r>
              <a:rPr sz="937" b="1" i="0" u="none">
                <a:solidFill>
                  <a:srgbClr val="0F283D"/>
                </a:solidFill>
                <a:latin typeface="DM Sans"/>
              </a:rPr>
              <a:t>99.76%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72050" y="4055268"/>
            <a:ext cx="2990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00775" y="4217193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DM Sans"/>
              </a:rPr>
              <a:t> ROC-AUC (macro)</a:t>
            </a:r>
            <a:r>
              <a:rPr sz="937" b="0" i="0" u="none">
                <a:solidFill>
                  <a:srgbClr val="2B2B2B"/>
                </a:solidFill>
                <a:latin typeface="DM Sans"/>
              </a:rPr>
              <a:t> </a:t>
            </a:r>
            <a:r>
              <a:rPr sz="937" b="1" i="0" u="none">
                <a:solidFill>
                  <a:srgbClr val="0F283D"/>
                </a:solidFill>
                <a:latin typeface="DM Sans"/>
              </a:rPr>
              <a:t>99.84%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8401050" y="2340768"/>
          <a:ext cx="2990849" cy="110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64748B"/>
                          </a:solidFill>
                          <a:latin typeface="DM Sans SemiBold"/>
                        </a:rPr>
                        <a:t>Split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64748B"/>
                          </a:solidFill>
                          <a:latin typeface="DM Sans SemiBold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DM Sans"/>
                        </a:rPr>
                        <a:t>Training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16A34A"/>
                          </a:solidFill>
                          <a:latin typeface="DM Sans"/>
                        </a:rPr>
                        <a:t>99.65%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DM Sans"/>
                        </a:rPr>
                        <a:t>Validation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16A34A"/>
                          </a:solidFill>
                          <a:latin typeface="DM Sans"/>
                        </a:rPr>
                        <a:t>95.49%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DM Sans"/>
                        </a:rPr>
                        <a:t>Test Accuracy (Final)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16A34A"/>
                          </a:solidFill>
                          <a:latin typeface="DM Sans"/>
                        </a:rPr>
                        <a:t>96.33%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8401050" y="2602706"/>
            <a:ext cx="19701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371236" y="2602706"/>
            <a:ext cx="10206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05825" y="3636168"/>
            <a:ext cx="133350" cy="1333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96325" y="3626643"/>
            <a:ext cx="2590800" cy="443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1" i="0" u="none">
                <a:solidFill>
                  <a:srgbClr val="166534"/>
                </a:solidFill>
                <a:latin typeface="DM Sans"/>
              </a:rPr>
              <a:t>Diagnosis: Well Generalized</a:t>
            </a:r>
            <a:r>
              <a:t>
</a:t>
            </a:r>
            <a:r>
              <a:rPr sz="862" b="0" i="0" u="none">
                <a:solidFill>
                  <a:srgbClr val="166534"/>
                </a:solidFill>
                <a:latin typeface="DM Sans"/>
              </a:rPr>
              <a:t> Train (99.65%) and Val (95.49%) are close; Test (96.33%) confirms strong generalization.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05825" y="4346227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96325" y="4336702"/>
            <a:ext cx="2095500" cy="29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4"/>
              </a:lnSpc>
            </a:pPr>
            <a:r>
              <a:rPr sz="862" b="1" i="0" u="none">
                <a:solidFill>
                  <a:srgbClr val="854D0E"/>
                </a:solidFill>
                <a:latin typeface="DM Sans"/>
              </a:rPr>
              <a:t>Data Leakage Audit</a:t>
            </a:r>
            <a:r>
              <a:t>
</a:t>
            </a:r>
            <a:r>
              <a:rPr sz="862" b="0" i="0" u="none">
                <a:solidFill>
                  <a:srgbClr val="854D0E"/>
                </a:solidFill>
                <a:latin typeface="DM Sans"/>
              </a:rPr>
              <a:t> 100% Isolated held-out test set verified.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72050" y="2376487"/>
            <a:ext cx="123825" cy="119062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72050" y="2747962"/>
            <a:ext cx="123825" cy="119062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72050" y="3119437"/>
            <a:ext cx="123825" cy="119062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72050" y="3490912"/>
            <a:ext cx="104775" cy="119062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72050" y="3862387"/>
            <a:ext cx="133350" cy="119062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72050" y="4233862"/>
            <a:ext cx="152400" cy="119062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8401050" y="2878931"/>
            <a:ext cx="19701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371236" y="2878931"/>
            <a:ext cx="10206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401050" y="3155156"/>
            <a:ext cx="19701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371236" y="3155156"/>
            <a:ext cx="10206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401050" y="3431381"/>
            <a:ext cx="19701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371236" y="3431381"/>
            <a:ext cx="10206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939FECB-239B-4C0F-B4E1-B832E137B3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67A5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6993CA-95A0-4683-9B52-CBE98C8C956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06 · PROPOSED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732F34-9096-450A-9E91-414AD147A1F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73B2B"/>
                </a:solidFill>
              </a:defRPr>
            </a:pPr>
            <a:r>
              <a:rPr sz="2700" b="1">
                <a:solidFill>
                  <a:srgbClr val="073B2B"/>
                </a:solidFill>
              </a:rPr>
              <a:t>Three architectures answer three deployment needs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55A6EC-7780-4851-A0F9-0564DA3829CC}"/>
              </a:ext>
            </a:extLst>
          </p:cNvPr>
          <p:cNvSpPr>
            <a:spLocks noGrp="1"/>
          </p:cNvSpPr>
          <p:nvPr/>
        </p:nvSpPr>
        <p:spPr>
          <a:xfrm>
            <a:off x="11096625" y="4000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8766E"/>
                </a:solidFill>
              </a:defRPr>
            </a:pPr>
            <a:r>
              <a:rPr sz="1125" b="1">
                <a:solidFill>
                  <a:srgbClr val="68766E"/>
                </a:solidFill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73D05A-DE85-4208-BD5D-2A98FE7CE62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B8C9B6"/>
          </a:solidFill>
          <a:ln w="0">
            <a:noFill/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4F74A-E939-458E-887E-D0AEE2FBA90A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3333750" cy="3714750"/>
          </a:xfrm>
          <a:prstGeom prst="roundRect">
            <a:avLst>
              <a:gd name="adj" fmla="val 3429"/>
            </a:avLst>
          </a:prstGeom>
          <a:solidFill>
            <a:srgbClr val="DCE9C8"/>
          </a:solidFill>
          <a:ln w="9525">
            <a:solidFill>
              <a:srgbClr val="167A5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909A29-7395-4A1D-A982-E3EEF63AE035}"/>
              </a:ext>
            </a:extLst>
          </p:cNvPr>
          <p:cNvSpPr>
            <a:spLocks noGrp="1"/>
          </p:cNvSpPr>
          <p:nvPr/>
        </p:nvSpPr>
        <p:spPr>
          <a:xfrm>
            <a:off x="981075" y="20193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MODEL 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3FBA90-91C9-4255-9BAB-8FE2D9DCD2B0}"/>
              </a:ext>
            </a:extLst>
          </p:cNvPr>
          <p:cNvSpPr>
            <a:spLocks noGrp="1"/>
          </p:cNvSpPr>
          <p:nvPr/>
        </p:nvSpPr>
        <p:spPr>
          <a:xfrm>
            <a:off x="981075" y="247650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3B2B"/>
                </a:solidFill>
              </a:defRPr>
            </a:pPr>
            <a:r>
              <a:rPr sz="2100" b="1">
                <a:solidFill>
                  <a:srgbClr val="073B2B"/>
                </a:solidFill>
              </a:rPr>
              <a:t>ConvNeXt-Tiny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494B5B-A056-44BB-BC15-EA14917E1E5A}"/>
              </a:ext>
            </a:extLst>
          </p:cNvPr>
          <p:cNvSpPr>
            <a:spLocks noGrp="1"/>
          </p:cNvSpPr>
          <p:nvPr/>
        </p:nvSpPr>
        <p:spPr>
          <a:xfrm>
            <a:off x="981075" y="3086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D2923"/>
                </a:solidFill>
              </a:defRPr>
            </a:pPr>
            <a:r>
              <a:rPr sz="1350" b="1">
                <a:solidFill>
                  <a:srgbClr val="1D2923"/>
                </a:solidFill>
              </a:rPr>
              <a:t>Modern CNN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C5F396-B89C-47D2-8531-44F375851909}"/>
              </a:ext>
            </a:extLst>
          </p:cNvPr>
          <p:cNvSpPr>
            <a:spLocks noGrp="1"/>
          </p:cNvSpPr>
          <p:nvPr/>
        </p:nvSpPr>
        <p:spPr>
          <a:xfrm>
            <a:off x="981075" y="354330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8766E"/>
                </a:solidFill>
              </a:defRPr>
            </a:pPr>
            <a:r>
              <a:rPr sz="1350" b="0">
                <a:solidFill>
                  <a:srgbClr val="68766E"/>
                </a:solidFill>
              </a:rPr>
              <a:t>Strong feature representation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8428B5-DF1F-435B-A068-D169D4F30475}"/>
              </a:ext>
            </a:extLst>
          </p:cNvPr>
          <p:cNvSpPr>
            <a:spLocks noGrp="1"/>
          </p:cNvSpPr>
          <p:nvPr/>
        </p:nvSpPr>
        <p:spPr>
          <a:xfrm>
            <a:off x="981075" y="4429125"/>
            <a:ext cx="2781300" cy="19050"/>
          </a:xfrm>
          <a:prstGeom prst="rect">
            <a:avLst/>
          </a:prstGeom>
          <a:solidFill>
            <a:srgbClr val="B8C9B6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6F44DC-DBEF-41F5-9765-8E194112CB32}"/>
              </a:ext>
            </a:extLst>
          </p:cNvPr>
          <p:cNvSpPr>
            <a:spLocks noGrp="1"/>
          </p:cNvSpPr>
          <p:nvPr/>
        </p:nvSpPr>
        <p:spPr>
          <a:xfrm>
            <a:off x="981075" y="47148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A52"/>
                </a:solidFill>
              </a:defRPr>
            </a:pPr>
            <a:r>
              <a:rPr sz="1575" b="1">
                <a:solidFill>
                  <a:srgbClr val="167A52"/>
                </a:solidFill>
              </a:rPr>
              <a:t>96.33% test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D1E532-5865-4379-B396-A6AAAB41B7ED}"/>
              </a:ext>
            </a:extLst>
          </p:cNvPr>
          <p:cNvSpPr>
            <a:spLocks noGrp="1"/>
          </p:cNvSpPr>
          <p:nvPr/>
        </p:nvSpPr>
        <p:spPr>
          <a:xfrm>
            <a:off x="4429125" y="1714500"/>
            <a:ext cx="3333750" cy="37147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B8C9B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789B2-72AC-46E7-A44F-3EC60D17C4C1}"/>
              </a:ext>
            </a:extLst>
          </p:cNvPr>
          <p:cNvSpPr>
            <a:spLocks noGrp="1"/>
          </p:cNvSpPr>
          <p:nvPr/>
        </p:nvSpPr>
        <p:spPr>
          <a:xfrm>
            <a:off x="4695825" y="20193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MODEL 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5136C9-A1B7-40D7-8639-2079EB7A3CC5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3B2B"/>
                </a:solidFill>
              </a:defRPr>
            </a:pPr>
            <a:r>
              <a:rPr sz="2100" b="1">
                <a:solidFill>
                  <a:srgbClr val="073B2B"/>
                </a:solidFill>
              </a:rPr>
              <a:t>EfficientNetV2-S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D46B5F-91AB-44A2-BDFC-7F6361F3A7EC}"/>
              </a:ext>
            </a:extLst>
          </p:cNvPr>
          <p:cNvSpPr>
            <a:spLocks noGrp="1"/>
          </p:cNvSpPr>
          <p:nvPr/>
        </p:nvSpPr>
        <p:spPr>
          <a:xfrm>
            <a:off x="4695825" y="3086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D2923"/>
                </a:solidFill>
              </a:defRPr>
            </a:pPr>
            <a:r>
              <a:rPr sz="1350" b="1">
                <a:solidFill>
                  <a:srgbClr val="1D2923"/>
                </a:solidFill>
              </a:rPr>
              <a:t>Efficient scaling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90BE3A-9EBA-4C68-B515-B2BD30F38305}"/>
              </a:ext>
            </a:extLst>
          </p:cNvPr>
          <p:cNvSpPr>
            <a:spLocks noGrp="1"/>
          </p:cNvSpPr>
          <p:nvPr/>
        </p:nvSpPr>
        <p:spPr>
          <a:xfrm>
            <a:off x="4695825" y="354330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8766E"/>
                </a:solidFill>
              </a:defRPr>
            </a:pPr>
            <a:r>
              <a:rPr sz="1350" b="0">
                <a:solidFill>
                  <a:srgbClr val="68766E"/>
                </a:solidFill>
              </a:rPr>
              <a:t>Accuracy–efficiency balance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E93F1F-80B9-4C38-A6D0-3A28F41E8A84}"/>
              </a:ext>
            </a:extLst>
          </p:cNvPr>
          <p:cNvSpPr>
            <a:spLocks noGrp="1"/>
          </p:cNvSpPr>
          <p:nvPr/>
        </p:nvSpPr>
        <p:spPr>
          <a:xfrm>
            <a:off x="4695825" y="4429125"/>
            <a:ext cx="2781300" cy="19050"/>
          </a:xfrm>
          <a:prstGeom prst="rect">
            <a:avLst/>
          </a:prstGeom>
          <a:solidFill>
            <a:srgbClr val="B8C9B6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1029D0-8881-4CD7-B6F6-42D672215489}"/>
              </a:ext>
            </a:extLst>
          </p:cNvPr>
          <p:cNvSpPr>
            <a:spLocks noGrp="1"/>
          </p:cNvSpPr>
          <p:nvPr/>
        </p:nvSpPr>
        <p:spPr>
          <a:xfrm>
            <a:off x="4695825" y="47148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A52"/>
                </a:solidFill>
              </a:defRPr>
            </a:pPr>
            <a:r>
              <a:rPr sz="1575" b="1" dirty="0">
                <a:solidFill>
                  <a:srgbClr val="167A52"/>
                </a:solidFill>
              </a:rPr>
              <a:t>9</a:t>
            </a:r>
            <a:r>
              <a:rPr lang="ar-EG" sz="1575" b="1" dirty="0">
                <a:solidFill>
                  <a:srgbClr val="167A52"/>
                </a:solidFill>
              </a:rPr>
              <a:t>3</a:t>
            </a:r>
            <a:r>
              <a:rPr sz="1575" b="1" dirty="0">
                <a:solidFill>
                  <a:srgbClr val="167A52"/>
                </a:solidFill>
              </a:rPr>
              <a:t>.</a:t>
            </a:r>
            <a:r>
              <a:rPr lang="ar-EG" sz="1575" b="1" dirty="0">
                <a:solidFill>
                  <a:srgbClr val="167A52"/>
                </a:solidFill>
              </a:rPr>
              <a:t>8</a:t>
            </a:r>
            <a:r>
              <a:rPr sz="1575" b="1" dirty="0">
                <a:solidFill>
                  <a:srgbClr val="167A52"/>
                </a:solidFill>
              </a:rPr>
              <a:t>%</a:t>
            </a:r>
            <a:r>
              <a:rPr lang="ar-EG" sz="1575" b="1" dirty="0">
                <a:solidFill>
                  <a:srgbClr val="167A52"/>
                </a:solidFill>
              </a:rPr>
              <a:t>  </a:t>
            </a:r>
            <a:r>
              <a:rPr lang="en-US" sz="1575" b="1" dirty="0">
                <a:solidFill>
                  <a:srgbClr val="167A52"/>
                </a:solidFill>
              </a:rPr>
              <a:t>test</a:t>
            </a:r>
            <a:endParaRPr sz="1575" b="1" dirty="0">
              <a:solidFill>
                <a:srgbClr val="167A52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3A0931-0688-4AB7-B297-8FEF5C812A45}"/>
              </a:ext>
            </a:extLst>
          </p:cNvPr>
          <p:cNvSpPr>
            <a:spLocks noGrp="1"/>
          </p:cNvSpPr>
          <p:nvPr/>
        </p:nvSpPr>
        <p:spPr>
          <a:xfrm>
            <a:off x="8143875" y="1714500"/>
            <a:ext cx="3333750" cy="37147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B8C9B6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C657D6-8149-449D-94F3-4F56676E8C99}"/>
              </a:ext>
            </a:extLst>
          </p:cNvPr>
          <p:cNvSpPr>
            <a:spLocks noGrp="1"/>
          </p:cNvSpPr>
          <p:nvPr/>
        </p:nvSpPr>
        <p:spPr>
          <a:xfrm>
            <a:off x="8410575" y="20193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MODEL 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BD22F1-BD51-41C7-A84F-B04E54C0919C}"/>
              </a:ext>
            </a:extLst>
          </p:cNvPr>
          <p:cNvSpPr>
            <a:spLocks noGrp="1"/>
          </p:cNvSpPr>
          <p:nvPr/>
        </p:nvSpPr>
        <p:spPr>
          <a:xfrm>
            <a:off x="8410575" y="247650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3B2B"/>
                </a:solidFill>
              </a:defRPr>
            </a:pPr>
            <a:r>
              <a:rPr sz="2100" b="1">
                <a:solidFill>
                  <a:srgbClr val="073B2B"/>
                </a:solidFill>
              </a:rPr>
              <a:t>MobileNetV2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C99DA4-CB26-4AFA-B532-F1A23A02C1AC}"/>
              </a:ext>
            </a:extLst>
          </p:cNvPr>
          <p:cNvSpPr>
            <a:spLocks noGrp="1"/>
          </p:cNvSpPr>
          <p:nvPr/>
        </p:nvSpPr>
        <p:spPr>
          <a:xfrm>
            <a:off x="8410575" y="3086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D2923"/>
                </a:solidFill>
              </a:defRPr>
            </a:pPr>
            <a:r>
              <a:rPr sz="1350" b="1">
                <a:solidFill>
                  <a:srgbClr val="1D2923"/>
                </a:solidFill>
              </a:rPr>
              <a:t>Inverted residuals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7915FD-BCC2-4AFF-8AC9-C1E2121B15F9}"/>
              </a:ext>
            </a:extLst>
          </p:cNvPr>
          <p:cNvSpPr>
            <a:spLocks noGrp="1"/>
          </p:cNvSpPr>
          <p:nvPr/>
        </p:nvSpPr>
        <p:spPr>
          <a:xfrm>
            <a:off x="8410575" y="354330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8766E"/>
                </a:solidFill>
              </a:defRPr>
            </a:pPr>
            <a:r>
              <a:rPr sz="1350" b="0">
                <a:solidFill>
                  <a:srgbClr val="68766E"/>
                </a:solidFill>
              </a:rPr>
              <a:t>Lightweight edge inference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5F2F44-F22F-453B-92EF-BD6B2905C776}"/>
              </a:ext>
            </a:extLst>
          </p:cNvPr>
          <p:cNvSpPr>
            <a:spLocks noGrp="1"/>
          </p:cNvSpPr>
          <p:nvPr/>
        </p:nvSpPr>
        <p:spPr>
          <a:xfrm>
            <a:off x="8410575" y="4429125"/>
            <a:ext cx="2781300" cy="19050"/>
          </a:xfrm>
          <a:prstGeom prst="rect">
            <a:avLst/>
          </a:prstGeom>
          <a:solidFill>
            <a:srgbClr val="B8C9B6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F591F7-FA6C-44C3-BFF1-D2E433EAFE70}"/>
              </a:ext>
            </a:extLst>
          </p:cNvPr>
          <p:cNvSpPr>
            <a:spLocks noGrp="1"/>
          </p:cNvSpPr>
          <p:nvPr/>
        </p:nvSpPr>
        <p:spPr>
          <a:xfrm>
            <a:off x="8410575" y="47148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7A52"/>
                </a:solidFill>
              </a:defRPr>
            </a:pPr>
            <a:r>
              <a:rPr sz="1575" b="1">
                <a:solidFill>
                  <a:srgbClr val="167A52"/>
                </a:solidFill>
              </a:rPr>
              <a:t>94.21% test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FA62EF-63DD-4325-9118-76B153849FE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8766E"/>
                </a:solidFill>
              </a:defRPr>
            </a:pPr>
            <a:r>
              <a:rPr sz="750" b="1">
                <a:solidFill>
                  <a:srgbClr val="68766E"/>
                </a:solidFill>
              </a:rPr>
              <a:t>ECOSORT AI · GRADUATION PROJECT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129B70-1AFB-42F9-9904-2916D9F3E7AC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8766E"/>
                </a:solidFill>
              </a:defRPr>
            </a:pPr>
            <a:r>
              <a:rPr sz="750" b="1">
                <a:solidFill>
                  <a:srgbClr val="68766E"/>
                </a:solidFill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935240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Previewing Image attachment">
            <a:extLst>
              <a:ext uri="{FF2B5EF4-FFF2-40B4-BE49-F238E27FC236}">
                <a16:creationId xmlns:a16="http://schemas.microsoft.com/office/drawing/2014/main" id="{80699195-56BB-41A7-BD18-FACC1231A7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Previewing Image attachment">
            <a:extLst>
              <a:ext uri="{FF2B5EF4-FFF2-40B4-BE49-F238E27FC236}">
                <a16:creationId xmlns:a16="http://schemas.microsoft.com/office/drawing/2014/main" id="{6245E8AF-C6DD-4321-8938-D88019B07D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1812" y="2097741"/>
            <a:ext cx="3558988" cy="33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Previewing Image attachment">
            <a:extLst>
              <a:ext uri="{FF2B5EF4-FFF2-40B4-BE49-F238E27FC236}">
                <a16:creationId xmlns:a16="http://schemas.microsoft.com/office/drawing/2014/main" id="{54495FB9-C988-4BC2-AECF-97BBEF7E0B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8" descr="Previewing Image attachment">
            <a:extLst>
              <a:ext uri="{FF2B5EF4-FFF2-40B4-BE49-F238E27FC236}">
                <a16:creationId xmlns:a16="http://schemas.microsoft.com/office/drawing/2014/main" id="{6052D084-05D6-4A54-A79E-C94D1A3276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B38C42-DE94-4EFD-A52C-34F33673F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51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3B4B0A-475A-4E89-8C70-530168C15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2"/>
            <a:ext cx="12192000" cy="68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91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AD1B460-75BB-474A-A024-800E3EF63B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67A5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E1726D-A05C-44DB-BB85-CBA57AB85F6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07 · EXPERIMENTAL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978E65-B781-4063-A7FD-C1002AC2FE3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73B2B"/>
                </a:solidFill>
              </a:defRPr>
            </a:pPr>
            <a:r>
              <a:rPr sz="2700" b="1">
                <a:solidFill>
                  <a:srgbClr val="073B2B"/>
                </a:solidFill>
              </a:rPr>
              <a:t>MobileNetV2 stays strong with a lighter profile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85D7E-F0C2-47B3-917A-78C4A9921CA7}"/>
              </a:ext>
            </a:extLst>
          </p:cNvPr>
          <p:cNvSpPr>
            <a:spLocks noGrp="1"/>
          </p:cNvSpPr>
          <p:nvPr/>
        </p:nvSpPr>
        <p:spPr>
          <a:xfrm>
            <a:off x="11096625" y="4000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8766E"/>
                </a:solidFill>
              </a:defRPr>
            </a:pPr>
            <a:r>
              <a:rPr sz="1125" b="1">
                <a:solidFill>
                  <a:srgbClr val="68766E"/>
                </a:solidFill>
              </a:rPr>
              <a:t>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63385F-FA0D-470F-A356-4DBED5422AA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B8C9B6"/>
          </a:solidFill>
          <a:ln w="0">
            <a:noFill/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0A28DB-941C-4F44-8AEE-A81B5CB2C3AF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2667000" cy="2667000"/>
          </a:xfrm>
          <a:prstGeom prst="ellipse">
            <a:avLst/>
          </a:prstGeom>
          <a:solidFill>
            <a:srgbClr val="073B2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251003-8F23-4AF0-B6A7-CBC95EB7E2F6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266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94.21%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55C074-E371-4635-BA22-033612B79A1F}"/>
              </a:ext>
            </a:extLst>
          </p:cNvPr>
          <p:cNvSpPr>
            <a:spLocks noGrp="1"/>
          </p:cNvSpPr>
          <p:nvPr/>
        </p:nvSpPr>
        <p:spPr>
          <a:xfrm>
            <a:off x="838200" y="32099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A7C93D"/>
                </a:solidFill>
              </a:defRPr>
            </a:pPr>
            <a:r>
              <a:rPr sz="1125" b="1">
                <a:solidFill>
                  <a:srgbClr val="A7C93D"/>
                </a:solidFill>
              </a:rPr>
              <a:t>TEST ACCURACY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352D61-A242-49D5-AB4D-5C355606FC2E}"/>
              </a:ext>
            </a:extLst>
          </p:cNvPr>
          <p:cNvSpPr>
            <a:spLocks noGrp="1"/>
          </p:cNvSpPr>
          <p:nvPr/>
        </p:nvSpPr>
        <p:spPr>
          <a:xfrm>
            <a:off x="4286250" y="18097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67A52"/>
                </a:solidFill>
              </a:defRPr>
            </a:pPr>
            <a:r>
              <a:rPr sz="2925" b="1">
                <a:solidFill>
                  <a:srgbClr val="167A52"/>
                </a:solidFill>
              </a:rPr>
              <a:t>93.53%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15CCE9-D7BE-4E3B-868D-D02CB500CC0A}"/>
              </a:ext>
            </a:extLst>
          </p:cNvPr>
          <p:cNvSpPr>
            <a:spLocks noGrp="1"/>
          </p:cNvSpPr>
          <p:nvPr/>
        </p:nvSpPr>
        <p:spPr>
          <a:xfrm>
            <a:off x="4286250" y="23622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8766E"/>
                </a:solidFill>
              </a:defRPr>
            </a:pPr>
            <a:r>
              <a:rPr sz="1125" b="0">
                <a:solidFill>
                  <a:srgbClr val="68766E"/>
                </a:solidFill>
              </a:rPr>
              <a:t>Macro precision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99344F-F056-44C5-94F2-24D7DC81878E}"/>
              </a:ext>
            </a:extLst>
          </p:cNvPr>
          <p:cNvSpPr>
            <a:spLocks noGrp="1"/>
          </p:cNvSpPr>
          <p:nvPr/>
        </p:nvSpPr>
        <p:spPr>
          <a:xfrm>
            <a:off x="7143750" y="18097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67A52"/>
                </a:solidFill>
              </a:defRPr>
            </a:pPr>
            <a:r>
              <a:rPr sz="2925" b="1">
                <a:solidFill>
                  <a:srgbClr val="167A52"/>
                </a:solidFill>
              </a:rPr>
              <a:t>92.91%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3EB991-72EA-41EC-8760-E18C2B8F3095}"/>
              </a:ext>
            </a:extLst>
          </p:cNvPr>
          <p:cNvSpPr>
            <a:spLocks noGrp="1"/>
          </p:cNvSpPr>
          <p:nvPr/>
        </p:nvSpPr>
        <p:spPr>
          <a:xfrm>
            <a:off x="7143750" y="23622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8766E"/>
                </a:solidFill>
              </a:defRPr>
            </a:pPr>
            <a:r>
              <a:rPr sz="1125" b="0">
                <a:solidFill>
                  <a:srgbClr val="68766E"/>
                </a:solidFill>
              </a:rPr>
              <a:t>Macro recall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D548AF-9A8D-4DE9-B9FD-D0835BF0125C}"/>
              </a:ext>
            </a:extLst>
          </p:cNvPr>
          <p:cNvSpPr>
            <a:spLocks noGrp="1"/>
          </p:cNvSpPr>
          <p:nvPr/>
        </p:nvSpPr>
        <p:spPr>
          <a:xfrm>
            <a:off x="9810750" y="180975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67A52"/>
                </a:solidFill>
              </a:defRPr>
            </a:pPr>
            <a:r>
              <a:rPr sz="2925" b="1">
                <a:solidFill>
                  <a:srgbClr val="167A52"/>
                </a:solidFill>
              </a:rPr>
              <a:t>93.14%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63FB96-92AD-4A91-8760-3924CF510756}"/>
              </a:ext>
            </a:extLst>
          </p:cNvPr>
          <p:cNvSpPr>
            <a:spLocks noGrp="1"/>
          </p:cNvSpPr>
          <p:nvPr/>
        </p:nvSpPr>
        <p:spPr>
          <a:xfrm>
            <a:off x="9810750" y="23622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8766E"/>
                </a:solidFill>
              </a:defRPr>
            </a:pPr>
            <a:r>
              <a:rPr sz="1125" b="0">
                <a:solidFill>
                  <a:srgbClr val="68766E"/>
                </a:solidFill>
              </a:rPr>
              <a:t>Macro F1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3B07F3-14FC-4E50-89A4-8ED3C18656D3}"/>
              </a:ext>
            </a:extLst>
          </p:cNvPr>
          <p:cNvSpPr>
            <a:spLocks noGrp="1"/>
          </p:cNvSpPr>
          <p:nvPr/>
        </p:nvSpPr>
        <p:spPr>
          <a:xfrm>
            <a:off x="4286250" y="31908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73B2B"/>
                </a:solidFill>
              </a:defRPr>
            </a:pPr>
            <a:r>
              <a:rPr sz="1650" b="1">
                <a:solidFill>
                  <a:srgbClr val="073B2B"/>
                </a:solidFill>
              </a:rPr>
              <a:t>Generalization path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816818-AFF3-43A2-89EE-D71CB99D7C0B}"/>
              </a:ext>
            </a:extLst>
          </p:cNvPr>
          <p:cNvSpPr>
            <a:spLocks noGrp="1"/>
          </p:cNvSpPr>
          <p:nvPr/>
        </p:nvSpPr>
        <p:spPr>
          <a:xfrm>
            <a:off x="4286250" y="3762375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D2923"/>
                </a:solidFill>
              </a:defRPr>
            </a:pPr>
            <a:r>
              <a:rPr sz="1200" b="1">
                <a:solidFill>
                  <a:srgbClr val="1D2923"/>
                </a:solidFill>
              </a:rPr>
              <a:t>Train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D21A22-6DFD-4B11-8FF2-70C8D6C81A8C}"/>
              </a:ext>
            </a:extLst>
          </p:cNvPr>
          <p:cNvSpPr>
            <a:spLocks noGrp="1"/>
          </p:cNvSpPr>
          <p:nvPr/>
        </p:nvSpPr>
        <p:spPr>
          <a:xfrm>
            <a:off x="5429250" y="3762375"/>
            <a:ext cx="4953000" cy="228600"/>
          </a:xfrm>
          <a:prstGeom prst="roundRect">
            <a:avLst>
              <a:gd name="adj" fmla="val 50000"/>
            </a:avLst>
          </a:prstGeom>
          <a:solidFill>
            <a:srgbClr val="E7EEE4"/>
          </a:solidFill>
          <a:ln w="0">
            <a:noFill/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6203B2A-A177-4EAC-A9E4-ABF68B436055}"/>
              </a:ext>
            </a:extLst>
          </p:cNvPr>
          <p:cNvSpPr>
            <a:spLocks noGrp="1"/>
          </p:cNvSpPr>
          <p:nvPr/>
        </p:nvSpPr>
        <p:spPr>
          <a:xfrm>
            <a:off x="5429250" y="3762375"/>
            <a:ext cx="4935664" cy="228600"/>
          </a:xfrm>
          <a:prstGeom prst="roundRect">
            <a:avLst>
              <a:gd name="adj" fmla="val 50000"/>
            </a:avLst>
          </a:prstGeom>
          <a:solidFill>
            <a:srgbClr val="167A52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AADC70-DB94-4D00-8925-6B22E7FEA9F9}"/>
              </a:ext>
            </a:extLst>
          </p:cNvPr>
          <p:cNvSpPr>
            <a:spLocks noGrp="1"/>
          </p:cNvSpPr>
          <p:nvPr/>
        </p:nvSpPr>
        <p:spPr>
          <a:xfrm>
            <a:off x="10477500" y="3762375"/>
            <a:ext cx="85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73B2B"/>
                </a:solidFill>
              </a:defRPr>
            </a:pPr>
            <a:r>
              <a:rPr sz="1200" b="1">
                <a:solidFill>
                  <a:srgbClr val="073B2B"/>
                </a:solidFill>
              </a:rPr>
              <a:t>99.65%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398A2F-397A-4E5A-A817-7DA2E59D19DE}"/>
              </a:ext>
            </a:extLst>
          </p:cNvPr>
          <p:cNvSpPr>
            <a:spLocks noGrp="1"/>
          </p:cNvSpPr>
          <p:nvPr/>
        </p:nvSpPr>
        <p:spPr>
          <a:xfrm>
            <a:off x="4286250" y="4314825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D2923"/>
                </a:solidFill>
              </a:defRPr>
            </a:pPr>
            <a:r>
              <a:rPr sz="1200" b="1">
                <a:solidFill>
                  <a:srgbClr val="1D2923"/>
                </a:solidFill>
              </a:rPr>
              <a:t>Validation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07DE378-D213-43B0-AEC8-3AC155A9481C}"/>
              </a:ext>
            </a:extLst>
          </p:cNvPr>
          <p:cNvSpPr>
            <a:spLocks noGrp="1"/>
          </p:cNvSpPr>
          <p:nvPr/>
        </p:nvSpPr>
        <p:spPr>
          <a:xfrm>
            <a:off x="5429250" y="4314825"/>
            <a:ext cx="4953000" cy="228600"/>
          </a:xfrm>
          <a:prstGeom prst="roundRect">
            <a:avLst>
              <a:gd name="adj" fmla="val 50000"/>
            </a:avLst>
          </a:prstGeom>
          <a:solidFill>
            <a:srgbClr val="E7EEE4"/>
          </a:solidFill>
          <a:ln w="0">
            <a:noFill/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34365C2-A7D2-4BAB-9764-BEA514D63334}"/>
              </a:ext>
            </a:extLst>
          </p:cNvPr>
          <p:cNvSpPr>
            <a:spLocks noGrp="1"/>
          </p:cNvSpPr>
          <p:nvPr/>
        </p:nvSpPr>
        <p:spPr>
          <a:xfrm>
            <a:off x="5429250" y="4314825"/>
            <a:ext cx="4729620" cy="228600"/>
          </a:xfrm>
          <a:prstGeom prst="roundRect">
            <a:avLst>
              <a:gd name="adj" fmla="val 50000"/>
            </a:avLst>
          </a:prstGeom>
          <a:solidFill>
            <a:srgbClr val="167A52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65E823-7830-4B10-B166-EDB935F43852}"/>
              </a:ext>
            </a:extLst>
          </p:cNvPr>
          <p:cNvSpPr>
            <a:spLocks noGrp="1"/>
          </p:cNvSpPr>
          <p:nvPr/>
        </p:nvSpPr>
        <p:spPr>
          <a:xfrm>
            <a:off x="10477500" y="4314825"/>
            <a:ext cx="85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73B2B"/>
                </a:solidFill>
              </a:defRPr>
            </a:pPr>
            <a:r>
              <a:rPr sz="1200" b="1">
                <a:solidFill>
                  <a:srgbClr val="073B2B"/>
                </a:solidFill>
              </a:rPr>
              <a:t>95.49%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96D43A-70A6-4E8E-B123-A29A9771DD33}"/>
              </a:ext>
            </a:extLst>
          </p:cNvPr>
          <p:cNvSpPr>
            <a:spLocks noGrp="1"/>
          </p:cNvSpPr>
          <p:nvPr/>
        </p:nvSpPr>
        <p:spPr>
          <a:xfrm>
            <a:off x="4286250" y="4867275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D2923"/>
                </a:solidFill>
              </a:defRPr>
            </a:pPr>
            <a:r>
              <a:rPr sz="1200" b="1">
                <a:solidFill>
                  <a:srgbClr val="1D2923"/>
                </a:solidFill>
              </a:rPr>
              <a:t>Test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66A02A-7479-4228-862B-13A7D189ECFF}"/>
              </a:ext>
            </a:extLst>
          </p:cNvPr>
          <p:cNvSpPr>
            <a:spLocks noGrp="1"/>
          </p:cNvSpPr>
          <p:nvPr/>
        </p:nvSpPr>
        <p:spPr>
          <a:xfrm>
            <a:off x="5429250" y="4867275"/>
            <a:ext cx="4953000" cy="228600"/>
          </a:xfrm>
          <a:prstGeom prst="roundRect">
            <a:avLst>
              <a:gd name="adj" fmla="val 50000"/>
            </a:avLst>
          </a:prstGeom>
          <a:solidFill>
            <a:srgbClr val="E7EEE4"/>
          </a:solidFill>
          <a:ln w="0">
            <a:noFill/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56485DE-47E2-49F4-B13D-B7FD6BC06C4D}"/>
              </a:ext>
            </a:extLst>
          </p:cNvPr>
          <p:cNvSpPr>
            <a:spLocks noGrp="1"/>
          </p:cNvSpPr>
          <p:nvPr/>
        </p:nvSpPr>
        <p:spPr>
          <a:xfrm>
            <a:off x="5429250" y="4867275"/>
            <a:ext cx="4666221" cy="228600"/>
          </a:xfrm>
          <a:prstGeom prst="roundRect">
            <a:avLst>
              <a:gd name="adj" fmla="val 50000"/>
            </a:avLst>
          </a:prstGeom>
          <a:solidFill>
            <a:srgbClr val="A7C93D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F56D19-74F3-41B4-92DF-DC0E0F35E126}"/>
              </a:ext>
            </a:extLst>
          </p:cNvPr>
          <p:cNvSpPr>
            <a:spLocks noGrp="1"/>
          </p:cNvSpPr>
          <p:nvPr/>
        </p:nvSpPr>
        <p:spPr>
          <a:xfrm>
            <a:off x="10477500" y="4867275"/>
            <a:ext cx="85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73B2B"/>
                </a:solidFill>
              </a:defRPr>
            </a:pPr>
            <a:r>
              <a:rPr sz="1200" b="1">
                <a:solidFill>
                  <a:srgbClr val="073B2B"/>
                </a:solidFill>
              </a:rPr>
              <a:t>94.21%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BDE1526-9A76-44A8-88D7-29FF3DFDDB70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2762250" cy="361950"/>
          </a:xfrm>
          <a:prstGeom prst="roundRect">
            <a:avLst>
              <a:gd name="adj" fmla="val 31579"/>
            </a:avLst>
          </a:prstGeom>
          <a:solidFill>
            <a:srgbClr val="DCE9C8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BEEBFA-CA93-41CB-BA82-48085B72EB53}"/>
              </a:ext>
            </a:extLst>
          </p:cNvPr>
          <p:cNvSpPr>
            <a:spLocks noGrp="1"/>
          </p:cNvSpPr>
          <p:nvPr/>
        </p:nvSpPr>
        <p:spPr>
          <a:xfrm>
            <a:off x="857250" y="50292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73B2B"/>
                </a:solidFill>
              </a:defRPr>
            </a:pPr>
            <a:r>
              <a:rPr sz="1050" b="1">
                <a:solidFill>
                  <a:srgbClr val="073B2B"/>
                </a:solidFill>
              </a:rPr>
              <a:t>Leakage audit: PASS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C42168-80C8-4CE0-9783-5D35D5E14B0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8766E"/>
                </a:solidFill>
              </a:defRPr>
            </a:pPr>
            <a:r>
              <a:rPr sz="750" b="1">
                <a:solidFill>
                  <a:srgbClr val="68766E"/>
                </a:solidFill>
              </a:rPr>
              <a:t>ECOSORT AI · GRADUATION PROJECT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FE093D-53AA-4CEF-9B44-658881A63DFC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8766E"/>
                </a:solidFill>
              </a:defRPr>
            </a:pPr>
            <a:r>
              <a:rPr sz="750" b="1">
                <a:solidFill>
                  <a:srgbClr val="68766E"/>
                </a:solidFill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04754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3E1DB0F-46B1-4481-83E4-718B5B0A13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67A5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4DE4F4-3D3E-407D-AB1E-F496D819030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A52"/>
                </a:solidFill>
              </a:defRPr>
            </a:pPr>
            <a:r>
              <a:rPr sz="975" b="1">
                <a:solidFill>
                  <a:srgbClr val="167A52"/>
                </a:solidFill>
              </a:rPr>
              <a:t>07 · EXPERIMENTAL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16296E-F220-4830-9A54-FB0BEA234EE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73B2B"/>
                </a:solidFill>
              </a:defRPr>
            </a:pPr>
            <a:r>
              <a:rPr sz="2700" b="1">
                <a:solidFill>
                  <a:srgbClr val="073B2B"/>
                </a:solidFill>
              </a:rPr>
              <a:t>ConvNeXt leads the verified test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67F12-152C-4441-8566-067E890C903B}"/>
              </a:ext>
            </a:extLst>
          </p:cNvPr>
          <p:cNvSpPr>
            <a:spLocks noGrp="1"/>
          </p:cNvSpPr>
          <p:nvPr/>
        </p:nvSpPr>
        <p:spPr>
          <a:xfrm>
            <a:off x="11096625" y="4000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8766E"/>
                </a:solidFill>
              </a:defRPr>
            </a:pPr>
            <a:r>
              <a:rPr sz="1125" b="1">
                <a:solidFill>
                  <a:srgbClr val="68766E"/>
                </a:solidFill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2FABC0-8E1C-4CA6-9206-F986E0D6DD8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19050"/>
          </a:xfrm>
          <a:prstGeom prst="rect">
            <a:avLst/>
          </a:prstGeom>
          <a:solidFill>
            <a:srgbClr val="B8C9B6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4C1311-A85C-4BBB-8582-86755A504D5B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67A52"/>
                </a:solidFill>
              </a:defRPr>
            </a:pPr>
            <a:r>
              <a:rPr sz="2925" b="1">
                <a:solidFill>
                  <a:srgbClr val="167A52"/>
                </a:solidFill>
              </a:rPr>
              <a:t>96.33%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50FD3D-1DAC-4736-8246-EB15CF2E5FF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8766E"/>
                </a:solidFill>
              </a:defRPr>
            </a:pPr>
            <a:r>
              <a:rPr sz="1125" b="0">
                <a:solidFill>
                  <a:srgbClr val="68766E"/>
                </a:solidFill>
              </a:rPr>
              <a:t>ConvNeXt test accuracy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74EF58-15D6-4D26-AA69-0F3617FED760}"/>
              </a:ext>
            </a:extLst>
          </p:cNvPr>
          <p:cNvSpPr>
            <a:spLocks noGrp="1"/>
          </p:cNvSpPr>
          <p:nvPr/>
        </p:nvSpPr>
        <p:spPr>
          <a:xfrm>
            <a:off x="4762500" y="16192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67A52"/>
                </a:solidFill>
              </a:defRPr>
            </a:pPr>
            <a:r>
              <a:rPr sz="2925" b="1" dirty="0">
                <a:solidFill>
                  <a:srgbClr val="167A52"/>
                </a:solidFill>
              </a:rPr>
              <a:t>9</a:t>
            </a:r>
            <a:r>
              <a:rPr lang="en-US" sz="2925" b="1" dirty="0">
                <a:solidFill>
                  <a:srgbClr val="167A52"/>
                </a:solidFill>
              </a:rPr>
              <a:t>3</a:t>
            </a:r>
            <a:r>
              <a:rPr sz="2925" b="1" dirty="0">
                <a:solidFill>
                  <a:srgbClr val="167A52"/>
                </a:solidFill>
              </a:rPr>
              <a:t>.</a:t>
            </a:r>
            <a:r>
              <a:rPr lang="en-US" sz="2925" b="1" dirty="0">
                <a:solidFill>
                  <a:srgbClr val="167A52"/>
                </a:solidFill>
              </a:rPr>
              <a:t>8</a:t>
            </a:r>
            <a:r>
              <a:rPr sz="2925" b="1" dirty="0">
                <a:solidFill>
                  <a:srgbClr val="167A52"/>
                </a:solidFill>
              </a:rPr>
              <a:t>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59C535-06C0-41E0-85CF-2D0B3230355F}"/>
              </a:ext>
            </a:extLst>
          </p:cNvPr>
          <p:cNvSpPr>
            <a:spLocks noGrp="1"/>
          </p:cNvSpPr>
          <p:nvPr/>
        </p:nvSpPr>
        <p:spPr>
          <a:xfrm>
            <a:off x="4762500" y="2171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8766E"/>
                </a:solidFill>
              </a:defRPr>
            </a:pPr>
            <a:r>
              <a:rPr sz="1125" b="0">
                <a:solidFill>
                  <a:srgbClr val="68766E"/>
                </a:solidFill>
              </a:rPr>
              <a:t>EfficientNet validation accuracy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5EEAAF-67C0-43C2-9614-0BDB4696859F}"/>
              </a:ext>
            </a:extLst>
          </p:cNvPr>
          <p:cNvSpPr>
            <a:spLocks noGrp="1"/>
          </p:cNvSpPr>
          <p:nvPr/>
        </p:nvSpPr>
        <p:spPr>
          <a:xfrm>
            <a:off x="8858250" y="16192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67A52"/>
                </a:solidFill>
              </a:defRPr>
            </a:pPr>
            <a:r>
              <a:rPr sz="2925" b="1">
                <a:solidFill>
                  <a:srgbClr val="167A52"/>
                </a:solidFill>
              </a:rPr>
              <a:t>94.21%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636BA9-80F3-4386-B12E-85CFEC673064}"/>
              </a:ext>
            </a:extLst>
          </p:cNvPr>
          <p:cNvSpPr>
            <a:spLocks noGrp="1"/>
          </p:cNvSpPr>
          <p:nvPr/>
        </p:nvSpPr>
        <p:spPr>
          <a:xfrm>
            <a:off x="8858250" y="2171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8766E"/>
                </a:solidFill>
              </a:defRPr>
            </a:pPr>
            <a:r>
              <a:rPr sz="1125" b="0">
                <a:solidFill>
                  <a:srgbClr val="68766E"/>
                </a:solidFill>
              </a:rPr>
              <a:t>MobileNet test accuracy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A5E58B-1A79-4EAB-9B44-B4B43D6F81AA}"/>
              </a:ext>
            </a:extLst>
          </p:cNvPr>
          <p:cNvSpPr>
            <a:spLocks noGrp="1"/>
          </p:cNvSpPr>
          <p:nvPr/>
        </p:nvSpPr>
        <p:spPr>
          <a:xfrm>
            <a:off x="714375" y="2857500"/>
            <a:ext cx="10763250" cy="400050"/>
          </a:xfrm>
          <a:prstGeom prst="rect">
            <a:avLst/>
          </a:prstGeom>
          <a:solidFill>
            <a:srgbClr val="073B2B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6C917-1B0F-4A02-BA12-6C3B11EC5071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BA845B-D39F-4D35-B99C-1E160E8BFD37}"/>
              </a:ext>
            </a:extLst>
          </p:cNvPr>
          <p:cNvSpPr>
            <a:spLocks noGrp="1"/>
          </p:cNvSpPr>
          <p:nvPr/>
        </p:nvSpPr>
        <p:spPr>
          <a:xfrm>
            <a:off x="3486150" y="29527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ConvNeXt-Tiny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266947-0457-44A2-8A23-9981780DE98D}"/>
              </a:ext>
            </a:extLst>
          </p:cNvPr>
          <p:cNvSpPr>
            <a:spLocks noGrp="1"/>
          </p:cNvSpPr>
          <p:nvPr/>
        </p:nvSpPr>
        <p:spPr>
          <a:xfrm>
            <a:off x="6134100" y="29527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EfficientNetV2-S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551E97-3913-403A-AD99-F8FCB275B938}"/>
              </a:ext>
            </a:extLst>
          </p:cNvPr>
          <p:cNvSpPr>
            <a:spLocks noGrp="1"/>
          </p:cNvSpPr>
          <p:nvPr/>
        </p:nvSpPr>
        <p:spPr>
          <a:xfrm>
            <a:off x="8782050" y="29527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MobileNetV2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B11BB6-B5D0-4F77-A6B5-EB6CDE4D1913}"/>
              </a:ext>
            </a:extLst>
          </p:cNvPr>
          <p:cNvSpPr>
            <a:spLocks noGrp="1"/>
          </p:cNvSpPr>
          <p:nvPr/>
        </p:nvSpPr>
        <p:spPr>
          <a:xfrm>
            <a:off x="714375" y="3314700"/>
            <a:ext cx="10763250" cy="400050"/>
          </a:xfrm>
          <a:prstGeom prst="rect">
            <a:avLst/>
          </a:prstGeom>
          <a:solidFill>
            <a:srgbClr val="E7EEE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6C8671-2FC8-45C9-8675-F4A160B35EE2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Accuracy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24C26B-6D5B-4B1D-A414-C0F053225065}"/>
              </a:ext>
            </a:extLst>
          </p:cNvPr>
          <p:cNvSpPr>
            <a:spLocks noGrp="1"/>
          </p:cNvSpPr>
          <p:nvPr/>
        </p:nvSpPr>
        <p:spPr>
          <a:xfrm>
            <a:off x="3486150" y="3409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96.33% test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C5DF93-008C-4051-8CEC-513E707B8886}"/>
              </a:ext>
            </a:extLst>
          </p:cNvPr>
          <p:cNvSpPr>
            <a:spLocks noGrp="1"/>
          </p:cNvSpPr>
          <p:nvPr/>
        </p:nvSpPr>
        <p:spPr>
          <a:xfrm>
            <a:off x="6134100" y="3409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 dirty="0">
                <a:solidFill>
                  <a:srgbClr val="1D2923"/>
                </a:solidFill>
              </a:rPr>
              <a:t>9</a:t>
            </a:r>
            <a:r>
              <a:rPr lang="en-US" sz="1125" dirty="0">
                <a:solidFill>
                  <a:srgbClr val="1D2923"/>
                </a:solidFill>
              </a:rPr>
              <a:t>4</a:t>
            </a:r>
            <a:r>
              <a:rPr sz="1125" b="0" dirty="0">
                <a:solidFill>
                  <a:srgbClr val="1D2923"/>
                </a:solidFill>
              </a:rPr>
              <a:t>.</a:t>
            </a:r>
            <a:r>
              <a:rPr lang="en-US" sz="1125" b="0" dirty="0">
                <a:solidFill>
                  <a:srgbClr val="1D2923"/>
                </a:solidFill>
              </a:rPr>
              <a:t>8</a:t>
            </a:r>
            <a:r>
              <a:rPr sz="1125" b="0" dirty="0">
                <a:solidFill>
                  <a:srgbClr val="1D2923"/>
                </a:solidFill>
              </a:rPr>
              <a:t>% validation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3F5486-00DB-4FAD-A25F-9103C4A33604}"/>
              </a:ext>
            </a:extLst>
          </p:cNvPr>
          <p:cNvSpPr>
            <a:spLocks noGrp="1"/>
          </p:cNvSpPr>
          <p:nvPr/>
        </p:nvSpPr>
        <p:spPr>
          <a:xfrm>
            <a:off x="8782050" y="3409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94.21% test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A18934-D535-4575-AE77-0D4C0A3F4774}"/>
              </a:ext>
            </a:extLst>
          </p:cNvPr>
          <p:cNvSpPr>
            <a:spLocks noGrp="1"/>
          </p:cNvSpPr>
          <p:nvPr/>
        </p:nvSpPr>
        <p:spPr>
          <a:xfrm>
            <a:off x="714375" y="3771900"/>
            <a:ext cx="107632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817FB8-B701-4379-8B40-FCBDB7B7739D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Precision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50F550-68F8-4FD4-BCF2-89636629FC82}"/>
              </a:ext>
            </a:extLst>
          </p:cNvPr>
          <p:cNvSpPr>
            <a:spLocks noGrp="1"/>
          </p:cNvSpPr>
          <p:nvPr/>
        </p:nvSpPr>
        <p:spPr>
          <a:xfrm>
            <a:off x="3486150" y="38671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95.74% macro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48F8B5-D372-4BE2-B9D7-6DD55357DF2B}"/>
              </a:ext>
            </a:extLst>
          </p:cNvPr>
          <p:cNvSpPr>
            <a:spLocks noGrp="1"/>
          </p:cNvSpPr>
          <p:nvPr/>
        </p:nvSpPr>
        <p:spPr>
          <a:xfrm>
            <a:off x="6134100" y="38671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95.00% validation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A46286-7CF5-4556-9529-A670CC60BB75}"/>
              </a:ext>
            </a:extLst>
          </p:cNvPr>
          <p:cNvSpPr>
            <a:spLocks noGrp="1"/>
          </p:cNvSpPr>
          <p:nvPr/>
        </p:nvSpPr>
        <p:spPr>
          <a:xfrm>
            <a:off x="8782050" y="38671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93.53% macro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C40300-A98E-44FE-AE4D-A96282E202D0}"/>
              </a:ext>
            </a:extLst>
          </p:cNvPr>
          <p:cNvSpPr>
            <a:spLocks noGrp="1"/>
          </p:cNvSpPr>
          <p:nvPr/>
        </p:nvSpPr>
        <p:spPr>
          <a:xfrm>
            <a:off x="714375" y="4229100"/>
            <a:ext cx="10763250" cy="400050"/>
          </a:xfrm>
          <a:prstGeom prst="rect">
            <a:avLst/>
          </a:prstGeom>
          <a:solidFill>
            <a:srgbClr val="E7EEE4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8E7A36-204E-4FE2-B02F-466E934FC612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Recall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A95402-641B-4F23-B80A-6EA1955992B1}"/>
              </a:ext>
            </a:extLst>
          </p:cNvPr>
          <p:cNvSpPr>
            <a:spLocks noGrp="1"/>
          </p:cNvSpPr>
          <p:nvPr/>
        </p:nvSpPr>
        <p:spPr>
          <a:xfrm>
            <a:off x="3486150" y="43243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95.54% macro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BE7851-388C-4E47-A3FD-3DB37030CFE1}"/>
              </a:ext>
            </a:extLst>
          </p:cNvPr>
          <p:cNvSpPr>
            <a:spLocks noGrp="1"/>
          </p:cNvSpPr>
          <p:nvPr/>
        </p:nvSpPr>
        <p:spPr>
          <a:xfrm>
            <a:off x="6134100" y="43243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94.94% validation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0D313F-249A-47F9-8F4B-B5AA7BCE94F2}"/>
              </a:ext>
            </a:extLst>
          </p:cNvPr>
          <p:cNvSpPr>
            <a:spLocks noGrp="1"/>
          </p:cNvSpPr>
          <p:nvPr/>
        </p:nvSpPr>
        <p:spPr>
          <a:xfrm>
            <a:off x="8782050" y="43243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92.91% macro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710FDD-DB0B-4924-8761-A21E5F44A04C}"/>
              </a:ext>
            </a:extLst>
          </p:cNvPr>
          <p:cNvSpPr>
            <a:spLocks noGrp="1"/>
          </p:cNvSpPr>
          <p:nvPr/>
        </p:nvSpPr>
        <p:spPr>
          <a:xfrm>
            <a:off x="714375" y="4686300"/>
            <a:ext cx="107632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282939-FFA3-4A4C-8BED-1400BD90AEC2}"/>
              </a:ext>
            </a:extLst>
          </p:cNvPr>
          <p:cNvSpPr>
            <a:spLocks noGrp="1"/>
          </p:cNvSpPr>
          <p:nvPr/>
        </p:nvSpPr>
        <p:spPr>
          <a:xfrm>
            <a:off x="838200" y="47815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F1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82C474-EAAB-4F64-AC99-2F87341E5334}"/>
              </a:ext>
            </a:extLst>
          </p:cNvPr>
          <p:cNvSpPr>
            <a:spLocks noGrp="1"/>
          </p:cNvSpPr>
          <p:nvPr/>
        </p:nvSpPr>
        <p:spPr>
          <a:xfrm>
            <a:off x="3486150" y="47815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95.60% macro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1B98F1-7F6C-4FBC-A02E-9DB374420BAD}"/>
              </a:ext>
            </a:extLst>
          </p:cNvPr>
          <p:cNvSpPr>
            <a:spLocks noGrp="1"/>
          </p:cNvSpPr>
          <p:nvPr/>
        </p:nvSpPr>
        <p:spPr>
          <a:xfrm>
            <a:off x="6134100" y="47815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94.95% validation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8E22D0-4C17-439D-95C4-FEAFC57818C7}"/>
              </a:ext>
            </a:extLst>
          </p:cNvPr>
          <p:cNvSpPr>
            <a:spLocks noGrp="1"/>
          </p:cNvSpPr>
          <p:nvPr/>
        </p:nvSpPr>
        <p:spPr>
          <a:xfrm>
            <a:off x="8782050" y="47815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93.14% macro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636525-7799-4DC4-803B-4315A4439C2C}"/>
              </a:ext>
            </a:extLst>
          </p:cNvPr>
          <p:cNvSpPr>
            <a:spLocks noGrp="1"/>
          </p:cNvSpPr>
          <p:nvPr/>
        </p:nvSpPr>
        <p:spPr>
          <a:xfrm>
            <a:off x="714375" y="5143500"/>
            <a:ext cx="10763250" cy="400050"/>
          </a:xfrm>
          <a:prstGeom prst="rect">
            <a:avLst/>
          </a:prstGeom>
          <a:solidFill>
            <a:srgbClr val="E7EEE4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61E0D7-5840-44F7-8305-3D275FBF5669}"/>
              </a:ext>
            </a:extLst>
          </p:cNvPr>
          <p:cNvSpPr>
            <a:spLocks noGrp="1"/>
          </p:cNvSpPr>
          <p:nvPr/>
        </p:nvSpPr>
        <p:spPr>
          <a:xfrm>
            <a:off x="838200" y="52387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3B2B"/>
                </a:solidFill>
              </a:defRPr>
            </a:pPr>
            <a:r>
              <a:rPr sz="1125" b="1">
                <a:solidFill>
                  <a:srgbClr val="073B2B"/>
                </a:solidFill>
              </a:rPr>
              <a:t>Status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22B4CC-52CA-4033-8D4D-99CFE4D2C7A3}"/>
              </a:ext>
            </a:extLst>
          </p:cNvPr>
          <p:cNvSpPr>
            <a:spLocks noGrp="1"/>
          </p:cNvSpPr>
          <p:nvPr/>
        </p:nvSpPr>
        <p:spPr>
          <a:xfrm>
            <a:off x="3486150" y="52387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 dirty="0">
                <a:solidFill>
                  <a:srgbClr val="1D2923"/>
                </a:solidFill>
              </a:rPr>
              <a:t>Verified test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08E2D0-54D4-4DF1-87E7-0423C1B61ED6}"/>
              </a:ext>
            </a:extLst>
          </p:cNvPr>
          <p:cNvSpPr>
            <a:spLocks noGrp="1"/>
          </p:cNvSpPr>
          <p:nvPr/>
        </p:nvSpPr>
        <p:spPr>
          <a:xfrm>
            <a:off x="6134100" y="52387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D2923"/>
                </a:solidFill>
              </a:defRPr>
            </a:pPr>
            <a:r>
              <a:rPr lang="en-US" sz="1125" dirty="0">
                <a:solidFill>
                  <a:srgbClr val="1D2923"/>
                </a:solidFill>
              </a:rPr>
              <a:t>Verified test</a:t>
            </a:r>
          </a:p>
          <a:p>
            <a:pPr algn="l">
              <a:defRPr sz="1125" b="0">
                <a:solidFill>
                  <a:srgbClr val="1D2923"/>
                </a:solidFill>
              </a:defRPr>
            </a:pPr>
            <a:endParaRPr lang="en-US" sz="1125" b="0" dirty="0">
              <a:solidFill>
                <a:srgbClr val="1D2923"/>
              </a:solidFill>
            </a:endParaRPr>
          </a:p>
          <a:p>
            <a:pPr algn="l">
              <a:defRPr sz="1125" b="0">
                <a:solidFill>
                  <a:srgbClr val="1D2923"/>
                </a:solidFill>
              </a:defRPr>
            </a:pPr>
            <a:endParaRPr sz="1125" b="0" dirty="0">
              <a:solidFill>
                <a:srgbClr val="1D2923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AC314BF-5E9D-4A9F-B83B-D894C3171036}"/>
              </a:ext>
            </a:extLst>
          </p:cNvPr>
          <p:cNvSpPr>
            <a:spLocks noGrp="1"/>
          </p:cNvSpPr>
          <p:nvPr/>
        </p:nvSpPr>
        <p:spPr>
          <a:xfrm>
            <a:off x="8782050" y="52387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D2923"/>
                </a:solidFill>
              </a:defRPr>
            </a:pPr>
            <a:r>
              <a:rPr sz="1125" b="0">
                <a:solidFill>
                  <a:srgbClr val="1D2923"/>
                </a:solidFill>
              </a:rPr>
              <a:t>Verified test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3B802F-B347-4167-83B7-E33F93A2B9B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8766E"/>
                </a:solidFill>
              </a:defRPr>
            </a:pPr>
            <a:r>
              <a:rPr sz="750" b="1">
                <a:solidFill>
                  <a:srgbClr val="68766E"/>
                </a:solidFill>
              </a:rPr>
              <a:t>ECOSORT AI · GRADUATION PROJECT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42811C-F42D-48CE-AB41-C96851C02B61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8766E"/>
                </a:solidFill>
              </a:defRPr>
            </a:pPr>
            <a:r>
              <a:rPr sz="750" b="1">
                <a:solidFill>
                  <a:srgbClr val="68766E"/>
                </a:solidFill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656494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7D8659-913B-4428-905E-816FA5CE7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824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772</Words>
  <Application>Microsoft Office PowerPoint</Application>
  <DocSecurity>0</DocSecurity>
  <PresentationFormat>Widescreen</PresentationFormat>
  <Paragraphs>193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DM Sans</vt:lpstr>
      <vt:lpstr>DM Sans Black</vt:lpstr>
      <vt:lpstr>DM Sans SemiBold</vt:lpstr>
      <vt:lpstr>Merriweather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10</cp:revision>
  <dcterms:created xsi:type="dcterms:W3CDTF">2026-08-01T17:42:07Z</dcterms:created>
  <dcterms:modified xsi:type="dcterms:W3CDTF">2026-08-04T14:35:53Z</dcterms:modified>
</cp:coreProperties>
</file>